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650" r:id="rId3"/>
  </p:sldMasterIdLst>
  <p:notesMasterIdLst>
    <p:notesMasterId r:id="rId5"/>
  </p:notesMasterIdLst>
  <p:sldIdLst>
    <p:sldId id="260" r:id="rId4"/>
    <p:sldId id="261" r:id="rId6"/>
    <p:sldId id="257" r:id="rId7"/>
    <p:sldId id="258" r:id="rId8"/>
    <p:sldId id="259" r:id="rId9"/>
    <p:sldId id="262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2.xml"/><Relationship Id="rId8" Type="http://schemas.openxmlformats.org/officeDocument/2006/relationships/slideLayout" Target="../slideLayouts/slideLayout1.xml"/><Relationship Id="rId7" Type="http://schemas.openxmlformats.org/officeDocument/2006/relationships/image" Target="../media/image7.png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image" Target="../media/image16.png"/><Relationship Id="rId8" Type="http://schemas.openxmlformats.org/officeDocument/2006/relationships/image" Target="../media/image15.png"/><Relationship Id="rId7" Type="http://schemas.openxmlformats.org/officeDocument/2006/relationships/image" Target="../media/image14.png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1" Type="http://schemas.openxmlformats.org/officeDocument/2006/relationships/notesSlide" Target="../notesSlides/notesSlide3.xml"/><Relationship Id="rId10" Type="http://schemas.openxmlformats.org/officeDocument/2006/relationships/slideLayout" Target="../slideLayouts/slideLayout1.xml"/><Relationship Id="rId1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image" Target="../media/image16.png"/><Relationship Id="rId7" Type="http://schemas.openxmlformats.org/officeDocument/2006/relationships/image" Target="../media/image15.png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0" Type="http://schemas.openxmlformats.org/officeDocument/2006/relationships/notesSlide" Target="../notesSlides/notesSlide4.xml"/><Relationship Id="rId1" Type="http://schemas.openxmlformats.org/officeDocument/2006/relationships/image" Target="../media/image17.pn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image" Target="../media/image21.png"/><Relationship Id="rId7" Type="http://schemas.openxmlformats.org/officeDocument/2006/relationships/image" Target="../media/image20.png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Relationship Id="rId3" Type="http://schemas.openxmlformats.org/officeDocument/2006/relationships/image" Target="../media/image19.png"/><Relationship Id="rId2" Type="http://schemas.openxmlformats.org/officeDocument/2006/relationships/image" Target="../media/image11.png"/><Relationship Id="rId10" Type="http://schemas.openxmlformats.org/officeDocument/2006/relationships/notesSlide" Target="../notesSlides/notesSlide5.xml"/><Relationship Id="rId1" Type="http://schemas.openxmlformats.org/officeDocument/2006/relationships/image" Target="../media/image18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ext 0"/>
          <p:cNvSpPr/>
          <p:nvPr/>
        </p:nvSpPr>
        <p:spPr>
          <a:xfrm>
            <a:off x="329565" y="1094105"/>
            <a:ext cx="1106424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Task - 1</a:t>
            </a:r>
            <a:endParaRPr lang="en-US" sz="3200" dirty="0"/>
          </a:p>
        </p:txBody>
      </p:sp>
      <p:sp>
        <p:nvSpPr>
          <p:cNvPr id="64" name="Shape 2"/>
          <p:cNvSpPr/>
          <p:nvPr/>
        </p:nvSpPr>
        <p:spPr>
          <a:xfrm>
            <a:off x="1644650" y="2169795"/>
            <a:ext cx="9481185" cy="2242820"/>
          </a:xfrm>
          <a:prstGeom prst="roundRect">
            <a:avLst>
              <a:gd name="adj" fmla="val 5333"/>
            </a:avLst>
          </a:prstGeom>
          <a:solidFill>
            <a:srgbClr val="1C7293"/>
          </a:solidFill>
          <a:effectLst>
            <a:outerShdw blurRad="762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p>
            <a:endParaRPr lang="en-US"/>
          </a:p>
        </p:txBody>
      </p:sp>
      <p:sp>
        <p:nvSpPr>
          <p:cNvPr id="65" name="Text 0"/>
          <p:cNvSpPr/>
          <p:nvPr/>
        </p:nvSpPr>
        <p:spPr>
          <a:xfrm>
            <a:off x="946785" y="3106420"/>
            <a:ext cx="1106424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altLang="en-US" sz="3200" b="1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Customer Sales Data Processing and Analytics</a:t>
            </a:r>
            <a:endParaRPr lang="en-US" altLang="en-US" sz="3200" b="1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 algn="l">
              <a:buNone/>
            </a:pPr>
            <a:endParaRPr lang="en-US" altLang="en-US" sz="3200" b="1" dirty="0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Customer Sales ETL Pipeline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10642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i="1" dirty="0">
                <a:solidFill>
                  <a:srgbClr val="CFE8F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System Architecture Overview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1028700" y="1600200"/>
            <a:ext cx="2286000" cy="1371600"/>
          </a:xfrm>
          <a:prstGeom prst="roundRect">
            <a:avLst>
              <a:gd name="adj" fmla="val 5333"/>
            </a:avLst>
          </a:prstGeom>
          <a:solidFill>
            <a:srgbClr val="1C7293"/>
          </a:solidFill>
          <a:effectLst>
            <a:outerShdw blurRad="762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138428" y="1709928"/>
            <a:ext cx="329184" cy="329184"/>
          </a:xfrm>
          <a:prstGeom prst="ellipse">
            <a:avLst/>
          </a:prstGeom>
          <a:solidFill>
            <a:srgbClr val="CFE8F3"/>
          </a:solidFill>
        </p:spPr>
      </p:sp>
      <p:sp>
        <p:nvSpPr>
          <p:cNvPr id="6" name="Text 4"/>
          <p:cNvSpPr/>
          <p:nvPr/>
        </p:nvSpPr>
        <p:spPr>
          <a:xfrm>
            <a:off x="1138428" y="1709928"/>
            <a:ext cx="329184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129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7772" y="1728216"/>
            <a:ext cx="438912" cy="438912"/>
          </a:xfrm>
          <a:prstGeom prst="ellipse">
            <a:avLst/>
          </a:prstGeom>
          <a:solidFill>
            <a:srgbClr val="FFFFFF">
              <a:alpha val="25000"/>
            </a:srgbClr>
          </a:solidFill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53111" y="1833555"/>
            <a:ext cx="228234" cy="22823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56716" y="2130552"/>
            <a:ext cx="2029968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 Generation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1156716" y="2496312"/>
            <a:ext cx="2029968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CFE8F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Generated synthetic Data via Faker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3314700" y="1600200"/>
            <a:ext cx="320040" cy="1371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FE8F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→</a:t>
            </a:r>
            <a:endParaRPr lang="en-US" sz="2000" dirty="0"/>
          </a:p>
        </p:txBody>
      </p:sp>
      <p:sp>
        <p:nvSpPr>
          <p:cNvPr id="12" name="Shape 9"/>
          <p:cNvSpPr/>
          <p:nvPr/>
        </p:nvSpPr>
        <p:spPr>
          <a:xfrm>
            <a:off x="3634740" y="1600200"/>
            <a:ext cx="2286000" cy="1371600"/>
          </a:xfrm>
          <a:prstGeom prst="roundRect">
            <a:avLst>
              <a:gd name="adj" fmla="val 5333"/>
            </a:avLst>
          </a:prstGeom>
          <a:solidFill>
            <a:srgbClr val="065A82"/>
          </a:solidFill>
          <a:effectLst>
            <a:outerShdw blurRad="762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744468" y="1709928"/>
            <a:ext cx="329184" cy="329184"/>
          </a:xfrm>
          <a:prstGeom prst="ellipse">
            <a:avLst/>
          </a:prstGeom>
          <a:solidFill>
            <a:srgbClr val="CFE8F3"/>
          </a:solidFill>
        </p:spPr>
      </p:sp>
      <p:sp>
        <p:nvSpPr>
          <p:cNvPr id="14" name="Text 11"/>
          <p:cNvSpPr/>
          <p:nvPr/>
        </p:nvSpPr>
        <p:spPr>
          <a:xfrm>
            <a:off x="3744468" y="1709928"/>
            <a:ext cx="329184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129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5353812" y="1728216"/>
            <a:ext cx="438912" cy="438912"/>
          </a:xfrm>
          <a:prstGeom prst="ellipse">
            <a:avLst/>
          </a:prstGeom>
          <a:solidFill>
            <a:srgbClr val="FFFFFF">
              <a:alpha val="25000"/>
            </a:srgbClr>
          </a:solidFill>
        </p:spPr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59151" y="1833555"/>
            <a:ext cx="228234" cy="228234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3762756" y="2130552"/>
            <a:ext cx="2029968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 Injection</a:t>
            </a:r>
            <a:endParaRPr lang="en-US" sz="1350" dirty="0"/>
          </a:p>
        </p:txBody>
      </p:sp>
      <p:sp>
        <p:nvSpPr>
          <p:cNvPr id="18" name="Text 14"/>
          <p:cNvSpPr/>
          <p:nvPr/>
        </p:nvSpPr>
        <p:spPr>
          <a:xfrm>
            <a:off x="3762756" y="2496312"/>
            <a:ext cx="2029968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chemeClr val="bg1"/>
                </a:solidFill>
              </a:rPr>
              <a:t>Invalid Data Injuction </a:t>
            </a:r>
            <a:r>
              <a:rPr lang="en-US" altLang="en-US" sz="950" dirty="0">
                <a:solidFill>
                  <a:schemeClr val="bg1"/>
                </a:solidFill>
              </a:rPr>
              <a:t>with different types of anomalies.</a:t>
            </a:r>
            <a:r>
              <a:rPr lang="en-US" sz="950" dirty="0">
                <a:solidFill>
                  <a:schemeClr val="bg1"/>
                </a:solidFill>
              </a:rPr>
              <a:t> </a:t>
            </a:r>
            <a:endParaRPr lang="en-US" sz="950" dirty="0">
              <a:solidFill>
                <a:schemeClr val="bg1"/>
              </a:solidFill>
            </a:endParaRPr>
          </a:p>
        </p:txBody>
      </p:sp>
      <p:sp>
        <p:nvSpPr>
          <p:cNvPr id="19" name="Text 15"/>
          <p:cNvSpPr/>
          <p:nvPr/>
        </p:nvSpPr>
        <p:spPr>
          <a:xfrm>
            <a:off x="5920740" y="1600200"/>
            <a:ext cx="320040" cy="1371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FE8F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→</a:t>
            </a:r>
            <a:endParaRPr lang="en-US" sz="2000" dirty="0"/>
          </a:p>
        </p:txBody>
      </p:sp>
      <p:sp>
        <p:nvSpPr>
          <p:cNvPr id="20" name="Shape 16"/>
          <p:cNvSpPr/>
          <p:nvPr/>
        </p:nvSpPr>
        <p:spPr>
          <a:xfrm>
            <a:off x="6240780" y="1600200"/>
            <a:ext cx="2286000" cy="1371600"/>
          </a:xfrm>
          <a:prstGeom prst="roundRect">
            <a:avLst>
              <a:gd name="adj" fmla="val 5333"/>
            </a:avLst>
          </a:prstGeom>
          <a:solidFill>
            <a:srgbClr val="1C7293"/>
          </a:solidFill>
          <a:effectLst>
            <a:outerShdw blurRad="762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6350508" y="1709928"/>
            <a:ext cx="329184" cy="329184"/>
          </a:xfrm>
          <a:prstGeom prst="ellipse">
            <a:avLst/>
          </a:prstGeom>
          <a:solidFill>
            <a:srgbClr val="CFE8F3"/>
          </a:solidFill>
        </p:spPr>
      </p:sp>
      <p:sp>
        <p:nvSpPr>
          <p:cNvPr id="22" name="Text 18"/>
          <p:cNvSpPr/>
          <p:nvPr/>
        </p:nvSpPr>
        <p:spPr>
          <a:xfrm>
            <a:off x="6350508" y="1709928"/>
            <a:ext cx="329184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129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200" dirty="0"/>
          </a:p>
        </p:txBody>
      </p:sp>
      <p:sp>
        <p:nvSpPr>
          <p:cNvPr id="23" name="Shape 19"/>
          <p:cNvSpPr/>
          <p:nvPr/>
        </p:nvSpPr>
        <p:spPr>
          <a:xfrm>
            <a:off x="7959852" y="1728216"/>
            <a:ext cx="438912" cy="438912"/>
          </a:xfrm>
          <a:prstGeom prst="ellipse">
            <a:avLst/>
          </a:prstGeom>
          <a:solidFill>
            <a:srgbClr val="FFFFFF">
              <a:alpha val="25000"/>
            </a:srgbClr>
          </a:solidFill>
        </p:spPr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65191" y="1833555"/>
            <a:ext cx="228234" cy="228234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6368796" y="2130552"/>
            <a:ext cx="2029968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Extraction</a:t>
            </a:r>
            <a:endParaRPr lang="en-US" sz="1350" dirty="0"/>
          </a:p>
        </p:txBody>
      </p:sp>
      <p:sp>
        <p:nvSpPr>
          <p:cNvPr id="26" name="Text 21"/>
          <p:cNvSpPr/>
          <p:nvPr/>
        </p:nvSpPr>
        <p:spPr>
          <a:xfrm>
            <a:off x="6368796" y="2496312"/>
            <a:ext cx="2029968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CFE8F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CSVs loaded to DataFrames</a:t>
            </a:r>
            <a:endParaRPr lang="en-US" sz="950" dirty="0"/>
          </a:p>
        </p:txBody>
      </p:sp>
      <p:sp>
        <p:nvSpPr>
          <p:cNvPr id="27" name="Text 22"/>
          <p:cNvSpPr/>
          <p:nvPr/>
        </p:nvSpPr>
        <p:spPr>
          <a:xfrm>
            <a:off x="8526780" y="1600200"/>
            <a:ext cx="320040" cy="1371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FE8F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→</a:t>
            </a:r>
            <a:endParaRPr lang="en-US" sz="2000" dirty="0"/>
          </a:p>
        </p:txBody>
      </p:sp>
      <p:sp>
        <p:nvSpPr>
          <p:cNvPr id="28" name="Shape 23"/>
          <p:cNvSpPr/>
          <p:nvPr/>
        </p:nvSpPr>
        <p:spPr>
          <a:xfrm>
            <a:off x="8846820" y="1600200"/>
            <a:ext cx="2286000" cy="1371600"/>
          </a:xfrm>
          <a:prstGeom prst="roundRect">
            <a:avLst>
              <a:gd name="adj" fmla="val 5333"/>
            </a:avLst>
          </a:prstGeom>
          <a:solidFill>
            <a:srgbClr val="065A82"/>
          </a:solidFill>
          <a:effectLst>
            <a:outerShdw blurRad="762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9" name="Shape 24"/>
          <p:cNvSpPr/>
          <p:nvPr/>
        </p:nvSpPr>
        <p:spPr>
          <a:xfrm>
            <a:off x="8956548" y="1709928"/>
            <a:ext cx="329184" cy="329184"/>
          </a:xfrm>
          <a:prstGeom prst="ellipse">
            <a:avLst/>
          </a:prstGeom>
          <a:solidFill>
            <a:srgbClr val="CFE8F3"/>
          </a:solidFill>
        </p:spPr>
      </p:sp>
      <p:sp>
        <p:nvSpPr>
          <p:cNvPr id="30" name="Text 25"/>
          <p:cNvSpPr/>
          <p:nvPr/>
        </p:nvSpPr>
        <p:spPr>
          <a:xfrm>
            <a:off x="8956548" y="1709928"/>
            <a:ext cx="329184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129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1200" dirty="0"/>
          </a:p>
        </p:txBody>
      </p:sp>
      <p:sp>
        <p:nvSpPr>
          <p:cNvPr id="31" name="Shape 26"/>
          <p:cNvSpPr/>
          <p:nvPr/>
        </p:nvSpPr>
        <p:spPr>
          <a:xfrm>
            <a:off x="10565892" y="1728216"/>
            <a:ext cx="438912" cy="438912"/>
          </a:xfrm>
          <a:prstGeom prst="ellipse">
            <a:avLst/>
          </a:prstGeom>
          <a:solidFill>
            <a:srgbClr val="FFFFFF">
              <a:alpha val="25000"/>
            </a:srgbClr>
          </a:solidFill>
        </p:spPr>
      </p:sp>
      <p:pic>
        <p:nvPicPr>
          <p:cNvPr id="32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71231" y="1833555"/>
            <a:ext cx="228234" cy="228234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8974836" y="2130552"/>
            <a:ext cx="2029968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Transformation</a:t>
            </a:r>
            <a:endParaRPr lang="en-US" sz="1350" dirty="0"/>
          </a:p>
        </p:txBody>
      </p:sp>
      <p:sp>
        <p:nvSpPr>
          <p:cNvPr id="34" name="Text 28"/>
          <p:cNvSpPr/>
          <p:nvPr/>
        </p:nvSpPr>
        <p:spPr>
          <a:xfrm>
            <a:off x="8974836" y="2496312"/>
            <a:ext cx="2029968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CFE8F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Clean, validate, standardize</a:t>
            </a:r>
            <a:endParaRPr lang="en-US" sz="950" dirty="0"/>
          </a:p>
        </p:txBody>
      </p:sp>
      <p:sp>
        <p:nvSpPr>
          <p:cNvPr id="35" name="Text 29"/>
          <p:cNvSpPr/>
          <p:nvPr/>
        </p:nvSpPr>
        <p:spPr>
          <a:xfrm rot="16200000">
            <a:off x="1223010" y="3977767"/>
            <a:ext cx="1371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CFE8F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↓</a:t>
            </a:r>
            <a:endParaRPr lang="en-US" sz="2600" dirty="0"/>
          </a:p>
        </p:txBody>
      </p:sp>
      <p:sp>
        <p:nvSpPr>
          <p:cNvPr id="36" name="Shape 30"/>
          <p:cNvSpPr/>
          <p:nvPr/>
        </p:nvSpPr>
        <p:spPr>
          <a:xfrm>
            <a:off x="2331720" y="3520440"/>
            <a:ext cx="2286000" cy="1371600"/>
          </a:xfrm>
          <a:prstGeom prst="roundRect">
            <a:avLst>
              <a:gd name="adj" fmla="val 5333"/>
            </a:avLst>
          </a:prstGeom>
          <a:solidFill>
            <a:srgbClr val="1C7293"/>
          </a:solidFill>
          <a:effectLst>
            <a:outerShdw blurRad="762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7" name="Shape 31"/>
          <p:cNvSpPr/>
          <p:nvPr/>
        </p:nvSpPr>
        <p:spPr>
          <a:xfrm>
            <a:off x="2441448" y="3630168"/>
            <a:ext cx="329184" cy="329184"/>
          </a:xfrm>
          <a:prstGeom prst="ellipse">
            <a:avLst/>
          </a:prstGeom>
          <a:solidFill>
            <a:srgbClr val="CFE8F3"/>
          </a:solidFill>
        </p:spPr>
      </p:sp>
      <p:sp>
        <p:nvSpPr>
          <p:cNvPr id="38" name="Text 32"/>
          <p:cNvSpPr/>
          <p:nvPr/>
        </p:nvSpPr>
        <p:spPr>
          <a:xfrm>
            <a:off x="2441448" y="3630168"/>
            <a:ext cx="329184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129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1200" dirty="0"/>
          </a:p>
        </p:txBody>
      </p:sp>
      <p:sp>
        <p:nvSpPr>
          <p:cNvPr id="39" name="Shape 33"/>
          <p:cNvSpPr/>
          <p:nvPr/>
        </p:nvSpPr>
        <p:spPr>
          <a:xfrm>
            <a:off x="4050792" y="3648456"/>
            <a:ext cx="438912" cy="438912"/>
          </a:xfrm>
          <a:prstGeom prst="ellipse">
            <a:avLst/>
          </a:prstGeom>
          <a:solidFill>
            <a:srgbClr val="FFFFFF">
              <a:alpha val="25000"/>
            </a:srgbClr>
          </a:solidFill>
        </p:spPr>
      </p:sp>
      <p:pic>
        <p:nvPicPr>
          <p:cNvPr id="40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56131" y="3753795"/>
            <a:ext cx="228234" cy="228234"/>
          </a:xfrm>
          <a:prstGeom prst="rect">
            <a:avLst/>
          </a:prstGeom>
        </p:spPr>
      </p:pic>
      <p:sp>
        <p:nvSpPr>
          <p:cNvPr id="41" name="Text 34"/>
          <p:cNvSpPr/>
          <p:nvPr/>
        </p:nvSpPr>
        <p:spPr>
          <a:xfrm>
            <a:off x="2459736" y="4050792"/>
            <a:ext cx="2029968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Sales Transaction</a:t>
            </a:r>
            <a:endParaRPr lang="en-US" sz="1350" dirty="0"/>
          </a:p>
        </p:txBody>
      </p:sp>
      <p:sp>
        <p:nvSpPr>
          <p:cNvPr id="42" name="Text 35"/>
          <p:cNvSpPr/>
          <p:nvPr/>
        </p:nvSpPr>
        <p:spPr>
          <a:xfrm>
            <a:off x="2459736" y="4416552"/>
            <a:ext cx="2029968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CFE8F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Merge data, calc revenue</a:t>
            </a:r>
            <a:endParaRPr lang="en-US" sz="950" dirty="0"/>
          </a:p>
        </p:txBody>
      </p:sp>
      <p:sp>
        <p:nvSpPr>
          <p:cNvPr id="43" name="Text 36"/>
          <p:cNvSpPr/>
          <p:nvPr/>
        </p:nvSpPr>
        <p:spPr>
          <a:xfrm>
            <a:off x="4617720" y="3520440"/>
            <a:ext cx="320040" cy="1371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FE8F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→</a:t>
            </a:r>
            <a:endParaRPr lang="en-US" sz="2000" dirty="0"/>
          </a:p>
        </p:txBody>
      </p:sp>
      <p:sp>
        <p:nvSpPr>
          <p:cNvPr id="44" name="Shape 37"/>
          <p:cNvSpPr/>
          <p:nvPr/>
        </p:nvSpPr>
        <p:spPr>
          <a:xfrm>
            <a:off x="4937760" y="3520440"/>
            <a:ext cx="2286000" cy="1371600"/>
          </a:xfrm>
          <a:prstGeom prst="roundRect">
            <a:avLst>
              <a:gd name="adj" fmla="val 5333"/>
            </a:avLst>
          </a:prstGeom>
          <a:solidFill>
            <a:srgbClr val="065A82"/>
          </a:solidFill>
          <a:effectLst>
            <a:outerShdw blurRad="762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45" name="Shape 38"/>
          <p:cNvSpPr/>
          <p:nvPr/>
        </p:nvSpPr>
        <p:spPr>
          <a:xfrm>
            <a:off x="5047488" y="3630168"/>
            <a:ext cx="329184" cy="329184"/>
          </a:xfrm>
          <a:prstGeom prst="ellipse">
            <a:avLst/>
          </a:prstGeom>
          <a:solidFill>
            <a:srgbClr val="CFE8F3"/>
          </a:solidFill>
        </p:spPr>
      </p:sp>
      <p:sp>
        <p:nvSpPr>
          <p:cNvPr id="46" name="Text 39"/>
          <p:cNvSpPr/>
          <p:nvPr/>
        </p:nvSpPr>
        <p:spPr>
          <a:xfrm>
            <a:off x="5047488" y="3630168"/>
            <a:ext cx="329184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129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</a:t>
            </a:r>
            <a:endParaRPr lang="en-US" sz="1200" dirty="0"/>
          </a:p>
        </p:txBody>
      </p:sp>
      <p:sp>
        <p:nvSpPr>
          <p:cNvPr id="47" name="Shape 40"/>
          <p:cNvSpPr/>
          <p:nvPr/>
        </p:nvSpPr>
        <p:spPr>
          <a:xfrm>
            <a:off x="6656832" y="3648456"/>
            <a:ext cx="438912" cy="438912"/>
          </a:xfrm>
          <a:prstGeom prst="ellipse">
            <a:avLst/>
          </a:prstGeom>
          <a:solidFill>
            <a:srgbClr val="FFFFFF">
              <a:alpha val="25000"/>
            </a:srgbClr>
          </a:solidFill>
        </p:spPr>
      </p:sp>
      <p:pic>
        <p:nvPicPr>
          <p:cNvPr id="48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62171" y="3753795"/>
            <a:ext cx="228234" cy="228234"/>
          </a:xfrm>
          <a:prstGeom prst="rect">
            <a:avLst/>
          </a:prstGeom>
        </p:spPr>
      </p:pic>
      <p:sp>
        <p:nvSpPr>
          <p:cNvPr id="49" name="Text 41"/>
          <p:cNvSpPr/>
          <p:nvPr/>
        </p:nvSpPr>
        <p:spPr>
          <a:xfrm>
            <a:off x="5065776" y="4050792"/>
            <a:ext cx="2029968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MySQL Loading</a:t>
            </a:r>
            <a:endParaRPr lang="en-US" sz="1350" dirty="0"/>
          </a:p>
        </p:txBody>
      </p:sp>
      <p:sp>
        <p:nvSpPr>
          <p:cNvPr id="50" name="Text 42"/>
          <p:cNvSpPr/>
          <p:nvPr/>
        </p:nvSpPr>
        <p:spPr>
          <a:xfrm>
            <a:off x="5065776" y="4416552"/>
            <a:ext cx="2029968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CFE8F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Batch insert to MySQL</a:t>
            </a:r>
            <a:endParaRPr lang="en-US" sz="950" dirty="0"/>
          </a:p>
        </p:txBody>
      </p:sp>
      <p:sp>
        <p:nvSpPr>
          <p:cNvPr id="51" name="Text 43"/>
          <p:cNvSpPr/>
          <p:nvPr/>
        </p:nvSpPr>
        <p:spPr>
          <a:xfrm>
            <a:off x="7223760" y="3520440"/>
            <a:ext cx="320040" cy="1371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FE8F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→</a:t>
            </a:r>
            <a:endParaRPr lang="en-US" sz="2000" dirty="0"/>
          </a:p>
        </p:txBody>
      </p:sp>
      <p:sp>
        <p:nvSpPr>
          <p:cNvPr id="52" name="Shape 44"/>
          <p:cNvSpPr/>
          <p:nvPr/>
        </p:nvSpPr>
        <p:spPr>
          <a:xfrm>
            <a:off x="7543800" y="3520440"/>
            <a:ext cx="2286000" cy="1371600"/>
          </a:xfrm>
          <a:prstGeom prst="roundRect">
            <a:avLst>
              <a:gd name="adj" fmla="val 5333"/>
            </a:avLst>
          </a:prstGeom>
          <a:solidFill>
            <a:srgbClr val="1C7293"/>
          </a:solidFill>
          <a:effectLst>
            <a:outerShdw blurRad="762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53" name="Shape 45"/>
          <p:cNvSpPr/>
          <p:nvPr/>
        </p:nvSpPr>
        <p:spPr>
          <a:xfrm>
            <a:off x="7653528" y="3630168"/>
            <a:ext cx="329184" cy="329184"/>
          </a:xfrm>
          <a:prstGeom prst="ellipse">
            <a:avLst/>
          </a:prstGeom>
          <a:solidFill>
            <a:srgbClr val="CFE8F3"/>
          </a:solidFill>
        </p:spPr>
      </p:sp>
      <p:sp>
        <p:nvSpPr>
          <p:cNvPr id="54" name="Text 46"/>
          <p:cNvSpPr/>
          <p:nvPr/>
        </p:nvSpPr>
        <p:spPr>
          <a:xfrm>
            <a:off x="7653528" y="3630168"/>
            <a:ext cx="329184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129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</a:t>
            </a:r>
            <a:endParaRPr lang="en-US" sz="1200" dirty="0"/>
          </a:p>
        </p:txBody>
      </p:sp>
      <p:sp>
        <p:nvSpPr>
          <p:cNvPr id="55" name="Shape 47"/>
          <p:cNvSpPr/>
          <p:nvPr/>
        </p:nvSpPr>
        <p:spPr>
          <a:xfrm>
            <a:off x="9262872" y="3648456"/>
            <a:ext cx="438912" cy="438912"/>
          </a:xfrm>
          <a:prstGeom prst="ellipse">
            <a:avLst/>
          </a:prstGeom>
          <a:solidFill>
            <a:srgbClr val="FFFFFF">
              <a:alpha val="25000"/>
            </a:srgbClr>
          </a:solidFill>
        </p:spPr>
      </p:sp>
      <p:pic>
        <p:nvPicPr>
          <p:cNvPr id="56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68211" y="3753795"/>
            <a:ext cx="228234" cy="228234"/>
          </a:xfrm>
          <a:prstGeom prst="rect">
            <a:avLst/>
          </a:prstGeom>
        </p:spPr>
      </p:pic>
      <p:sp>
        <p:nvSpPr>
          <p:cNvPr id="57" name="Text 48"/>
          <p:cNvSpPr/>
          <p:nvPr/>
        </p:nvSpPr>
        <p:spPr>
          <a:xfrm>
            <a:off x="7671816" y="4050792"/>
            <a:ext cx="2029968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Reports &amp; Analysis</a:t>
            </a:r>
            <a:endParaRPr lang="en-US" sz="1350" dirty="0"/>
          </a:p>
        </p:txBody>
      </p:sp>
      <p:sp>
        <p:nvSpPr>
          <p:cNvPr id="58" name="Text 49"/>
          <p:cNvSpPr/>
          <p:nvPr/>
        </p:nvSpPr>
        <p:spPr>
          <a:xfrm>
            <a:off x="7671816" y="4416552"/>
            <a:ext cx="2029968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endParaRPr lang="en-US" sz="950" dirty="0"/>
          </a:p>
        </p:txBody>
      </p:sp>
      <p:sp>
        <p:nvSpPr>
          <p:cNvPr id="59" name="Shape 50"/>
          <p:cNvSpPr/>
          <p:nvPr/>
        </p:nvSpPr>
        <p:spPr>
          <a:xfrm>
            <a:off x="548640" y="5257800"/>
            <a:ext cx="11064240" cy="1051560"/>
          </a:xfrm>
          <a:prstGeom prst="roundRect">
            <a:avLst>
              <a:gd name="adj" fmla="val 5217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60" name="Text 51"/>
          <p:cNvSpPr/>
          <p:nvPr/>
        </p:nvSpPr>
        <p:spPr>
          <a:xfrm>
            <a:off x="777240" y="5349240"/>
            <a:ext cx="10607040" cy="8686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CFE8F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End-to-end flow:  </a:t>
            </a:r>
            <a:r>
              <a:rPr lang="en-US" sz="12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AppRun.py orchestrates raw data generation → anomaly injection → extraction into Pandas → cleaning &amp; business rules → sales transaction creation → batch load into MySQL → data quality reporting → SQL business analysis.</a:t>
            </a:r>
            <a:endParaRPr lang="en-US" sz="1250" dirty="0"/>
          </a:p>
        </p:txBody>
      </p:sp>
      <p:sp>
        <p:nvSpPr>
          <p:cNvPr id="61" name="Text 52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6C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Customer Sales ETL Pipeline  |  Architecture</a:t>
            </a:r>
            <a:endParaRPr lang="en-US" sz="900" dirty="0"/>
          </a:p>
        </p:txBody>
      </p:sp>
      <p:sp>
        <p:nvSpPr>
          <p:cNvPr id="62" name="Text 53"/>
          <p:cNvSpPr/>
          <p:nvPr/>
        </p:nvSpPr>
        <p:spPr>
          <a:xfrm>
            <a:off x="11430000" y="6492240"/>
            <a:ext cx="3657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6C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566928" cy="566928"/>
          </a:xfrm>
          <a:prstGeom prst="ellipse">
            <a:avLst/>
          </a:prstGeom>
          <a:solidFill>
            <a:srgbClr val="1C7293"/>
          </a:solidFill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4703" y="520111"/>
            <a:ext cx="294803" cy="29480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320040"/>
            <a:ext cx="96012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21295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ETL Workflow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1280160" y="804672"/>
            <a:ext cx="98755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A6B8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Main functions executed by AppRun.py, in pipeline order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548640" y="1325880"/>
            <a:ext cx="5349240" cy="1083564"/>
          </a:xfrm>
          <a:prstGeom prst="roundRect">
            <a:avLst>
              <a:gd name="adj" fmla="val 5907"/>
            </a:avLst>
          </a:prstGeom>
          <a:solidFill>
            <a:srgbClr val="FFFFFF"/>
          </a:solidFill>
          <a:ln w="12700">
            <a:solidFill>
              <a:srgbClr val="DCE6EF"/>
            </a:solidFill>
            <a:prstDash val="solid"/>
          </a:ln>
          <a:effectLst>
            <a:outerShdw blurRad="63500" dist="25400" dir="5400000" algn="bl" rotWithShape="0">
              <a:srgbClr val="8FA6C4">
                <a:alpha val="2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49808" y="1611630"/>
            <a:ext cx="512064" cy="512064"/>
          </a:xfrm>
          <a:prstGeom prst="ellipse">
            <a:avLst/>
          </a:prstGeom>
          <a:solidFill>
            <a:srgbClr val="1C7293"/>
          </a:solidFill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2703" y="1734525"/>
            <a:ext cx="266273" cy="266273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463040" y="1453896"/>
            <a:ext cx="4251960" cy="455097"/>
          </a:xfrm>
          <a:prstGeom prst="rect">
            <a:avLst/>
          </a:prstGeom>
          <a:noFill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350" b="1" dirty="0">
                <a:solidFill>
                  <a:srgbClr val="2129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1. Generate Raw Data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1463040" y="1867662"/>
            <a:ext cx="4251960" cy="476768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A6B8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generate_csv_files() creates mock Customers, Products, Orders via Faker.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6263640" y="1325880"/>
            <a:ext cx="5349240" cy="1083564"/>
          </a:xfrm>
          <a:prstGeom prst="roundRect">
            <a:avLst>
              <a:gd name="adj" fmla="val 5907"/>
            </a:avLst>
          </a:prstGeom>
          <a:solidFill>
            <a:srgbClr val="FFFFFF"/>
          </a:solidFill>
          <a:ln w="12700">
            <a:solidFill>
              <a:srgbClr val="DCE6EF"/>
            </a:solidFill>
            <a:prstDash val="solid"/>
          </a:ln>
          <a:effectLst>
            <a:outerShdw blurRad="63500" dist="25400" dir="5400000" algn="bl" rotWithShape="0">
              <a:srgbClr val="8FA6C4">
                <a:alpha val="25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6464808" y="1611630"/>
            <a:ext cx="512064" cy="512064"/>
          </a:xfrm>
          <a:prstGeom prst="ellipse">
            <a:avLst/>
          </a:prstGeom>
          <a:solidFill>
            <a:srgbClr val="1C7293"/>
          </a:solidFill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7703" y="1734525"/>
            <a:ext cx="266273" cy="266273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178040" y="1453896"/>
            <a:ext cx="4251960" cy="455097"/>
          </a:xfrm>
          <a:prstGeom prst="rect">
            <a:avLst/>
          </a:prstGeom>
          <a:noFill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350" b="1" dirty="0">
                <a:solidFill>
                  <a:srgbClr val="2129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2. Inject Errors</a:t>
            </a:r>
            <a:endParaRPr lang="en-US" sz="1350" dirty="0"/>
          </a:p>
        </p:txBody>
      </p:sp>
      <p:sp>
        <p:nvSpPr>
          <p:cNvPr id="15" name="Text 10"/>
          <p:cNvSpPr/>
          <p:nvPr/>
        </p:nvSpPr>
        <p:spPr>
          <a:xfrm>
            <a:off x="7178040" y="1867662"/>
            <a:ext cx="4251960" cy="476768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A6B8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inject_raw_data() introduces missing values, duplicates &amp; invalid records.</a:t>
            </a:r>
            <a:endParaRPr lang="en-US" sz="1000" dirty="0"/>
          </a:p>
        </p:txBody>
      </p:sp>
      <p:sp>
        <p:nvSpPr>
          <p:cNvPr id="16" name="Shape 11"/>
          <p:cNvSpPr/>
          <p:nvPr/>
        </p:nvSpPr>
        <p:spPr>
          <a:xfrm>
            <a:off x="548640" y="2610612"/>
            <a:ext cx="5349240" cy="1083564"/>
          </a:xfrm>
          <a:prstGeom prst="roundRect">
            <a:avLst>
              <a:gd name="adj" fmla="val 5907"/>
            </a:avLst>
          </a:prstGeom>
          <a:solidFill>
            <a:srgbClr val="FFFFFF"/>
          </a:solidFill>
          <a:ln w="12700">
            <a:solidFill>
              <a:srgbClr val="DCE6EF"/>
            </a:solidFill>
            <a:prstDash val="solid"/>
          </a:ln>
          <a:effectLst>
            <a:outerShdw blurRad="63500" dist="25400" dir="5400000" algn="bl" rotWithShape="0">
              <a:srgbClr val="8FA6C4">
                <a:alpha val="25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749808" y="2896362"/>
            <a:ext cx="512064" cy="512064"/>
          </a:xfrm>
          <a:prstGeom prst="ellipse">
            <a:avLst/>
          </a:prstGeom>
          <a:solidFill>
            <a:srgbClr val="1C7293"/>
          </a:solidFill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2703" y="3019257"/>
            <a:ext cx="266273" cy="266273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463040" y="2738628"/>
            <a:ext cx="4251960" cy="455097"/>
          </a:xfrm>
          <a:prstGeom prst="rect">
            <a:avLst/>
          </a:prstGeom>
          <a:noFill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350" b="1" dirty="0">
                <a:solidFill>
                  <a:srgbClr val="2129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3. Read CSVs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1463040" y="3152394"/>
            <a:ext cx="4251960" cy="476768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A6B8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Raw CSV files loaded into Pandas DataFrames for processing.</a:t>
            </a:r>
            <a:endParaRPr lang="en-US" sz="1000" dirty="0"/>
          </a:p>
        </p:txBody>
      </p:sp>
      <p:sp>
        <p:nvSpPr>
          <p:cNvPr id="21" name="Shape 15"/>
          <p:cNvSpPr/>
          <p:nvPr/>
        </p:nvSpPr>
        <p:spPr>
          <a:xfrm>
            <a:off x="6263640" y="2610612"/>
            <a:ext cx="5349240" cy="1083564"/>
          </a:xfrm>
          <a:prstGeom prst="roundRect">
            <a:avLst>
              <a:gd name="adj" fmla="val 5907"/>
            </a:avLst>
          </a:prstGeom>
          <a:solidFill>
            <a:srgbClr val="FFFFFF"/>
          </a:solidFill>
          <a:ln w="12700">
            <a:solidFill>
              <a:srgbClr val="DCE6EF"/>
            </a:solidFill>
            <a:prstDash val="solid"/>
          </a:ln>
          <a:effectLst>
            <a:outerShdw blurRad="63500" dist="25400" dir="5400000" algn="bl" rotWithShape="0">
              <a:srgbClr val="8FA6C4">
                <a:alpha val="25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6464808" y="2896362"/>
            <a:ext cx="512064" cy="512064"/>
          </a:xfrm>
          <a:prstGeom prst="ellipse">
            <a:avLst/>
          </a:prstGeom>
          <a:solidFill>
            <a:srgbClr val="1C7293"/>
          </a:solidFill>
        </p:spPr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7703" y="3019257"/>
            <a:ext cx="266273" cy="266273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7178040" y="2738628"/>
            <a:ext cx="4251960" cy="455097"/>
          </a:xfrm>
          <a:prstGeom prst="rect">
            <a:avLst/>
          </a:prstGeom>
          <a:noFill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350" b="1" dirty="0">
                <a:solidFill>
                  <a:srgbClr val="2129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4. Clean Data</a:t>
            </a:r>
            <a:endParaRPr lang="en-US" sz="1350" dirty="0"/>
          </a:p>
        </p:txBody>
      </p:sp>
      <p:sp>
        <p:nvSpPr>
          <p:cNvPr id="25" name="Text 18"/>
          <p:cNvSpPr/>
          <p:nvPr/>
        </p:nvSpPr>
        <p:spPr>
          <a:xfrm>
            <a:off x="7178040" y="3152394"/>
            <a:ext cx="4251960" cy="476768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A6B8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clean_customers / clean_products / clean_orders validate &amp; standardize records.</a:t>
            </a:r>
            <a:endParaRPr lang="en-US" sz="1000" dirty="0"/>
          </a:p>
        </p:txBody>
      </p:sp>
      <p:sp>
        <p:nvSpPr>
          <p:cNvPr id="26" name="Shape 19"/>
          <p:cNvSpPr/>
          <p:nvPr/>
        </p:nvSpPr>
        <p:spPr>
          <a:xfrm>
            <a:off x="548640" y="3895344"/>
            <a:ext cx="5349240" cy="1083564"/>
          </a:xfrm>
          <a:prstGeom prst="roundRect">
            <a:avLst>
              <a:gd name="adj" fmla="val 5907"/>
            </a:avLst>
          </a:prstGeom>
          <a:solidFill>
            <a:srgbClr val="FFFFFF"/>
          </a:solidFill>
          <a:ln w="12700">
            <a:solidFill>
              <a:srgbClr val="DCE6EF"/>
            </a:solidFill>
            <a:prstDash val="solid"/>
          </a:ln>
          <a:effectLst>
            <a:outerShdw blurRad="63500" dist="25400" dir="5400000" algn="bl" rotWithShape="0">
              <a:srgbClr val="8FA6C4">
                <a:alpha val="25000"/>
              </a:srgbClr>
            </a:outerShdw>
          </a:effectLst>
        </p:spPr>
      </p:sp>
      <p:sp>
        <p:nvSpPr>
          <p:cNvPr id="27" name="Shape 20"/>
          <p:cNvSpPr/>
          <p:nvPr/>
        </p:nvSpPr>
        <p:spPr>
          <a:xfrm>
            <a:off x="749808" y="4181094"/>
            <a:ext cx="512064" cy="512064"/>
          </a:xfrm>
          <a:prstGeom prst="ellipse">
            <a:avLst/>
          </a:prstGeom>
          <a:solidFill>
            <a:srgbClr val="1C7293"/>
          </a:solidFill>
        </p:spPr>
      </p:sp>
      <p:pic>
        <p:nvPicPr>
          <p:cNvPr id="28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2703" y="4303989"/>
            <a:ext cx="266273" cy="266273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1463040" y="4023360"/>
            <a:ext cx="4251960" cy="455097"/>
          </a:xfrm>
          <a:prstGeom prst="rect">
            <a:avLst/>
          </a:prstGeom>
          <a:noFill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350" b="1" dirty="0">
                <a:solidFill>
                  <a:srgbClr val="2129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5. Create Sales Transaction</a:t>
            </a:r>
            <a:endParaRPr lang="en-US" sz="1350" dirty="0"/>
          </a:p>
        </p:txBody>
      </p:sp>
      <p:sp>
        <p:nvSpPr>
          <p:cNvPr id="30" name="Text 22"/>
          <p:cNvSpPr/>
          <p:nvPr/>
        </p:nvSpPr>
        <p:spPr>
          <a:xfrm>
            <a:off x="1463040" y="4437126"/>
            <a:ext cx="4251960" cy="476768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A6B8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create_sales_transaction_df() merges data &amp; calculates revenue.</a:t>
            </a:r>
            <a:endParaRPr lang="en-US" sz="1000" dirty="0"/>
          </a:p>
        </p:txBody>
      </p:sp>
      <p:sp>
        <p:nvSpPr>
          <p:cNvPr id="31" name="Shape 23"/>
          <p:cNvSpPr/>
          <p:nvPr/>
        </p:nvSpPr>
        <p:spPr>
          <a:xfrm>
            <a:off x="6263640" y="3895344"/>
            <a:ext cx="5349240" cy="1083564"/>
          </a:xfrm>
          <a:prstGeom prst="roundRect">
            <a:avLst>
              <a:gd name="adj" fmla="val 5907"/>
            </a:avLst>
          </a:prstGeom>
          <a:solidFill>
            <a:srgbClr val="FFFFFF"/>
          </a:solidFill>
          <a:ln w="12700">
            <a:solidFill>
              <a:srgbClr val="DCE6EF"/>
            </a:solidFill>
            <a:prstDash val="solid"/>
          </a:ln>
          <a:effectLst>
            <a:outerShdw blurRad="63500" dist="25400" dir="5400000" algn="bl" rotWithShape="0">
              <a:srgbClr val="8FA6C4">
                <a:alpha val="25000"/>
              </a:srgbClr>
            </a:outerShdw>
          </a:effectLst>
        </p:spPr>
      </p:sp>
      <p:sp>
        <p:nvSpPr>
          <p:cNvPr id="32" name="Shape 24"/>
          <p:cNvSpPr/>
          <p:nvPr/>
        </p:nvSpPr>
        <p:spPr>
          <a:xfrm>
            <a:off x="6464808" y="4181094"/>
            <a:ext cx="512064" cy="512064"/>
          </a:xfrm>
          <a:prstGeom prst="ellipse">
            <a:avLst/>
          </a:prstGeom>
          <a:solidFill>
            <a:srgbClr val="1C7293"/>
          </a:solidFill>
        </p:spPr>
      </p:sp>
      <p:pic>
        <p:nvPicPr>
          <p:cNvPr id="33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87703" y="4303989"/>
            <a:ext cx="266273" cy="266273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7178040" y="4023360"/>
            <a:ext cx="4251960" cy="455097"/>
          </a:xfrm>
          <a:prstGeom prst="rect">
            <a:avLst/>
          </a:prstGeom>
          <a:noFill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350" b="1" dirty="0">
                <a:solidFill>
                  <a:srgbClr val="2129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6. Load to MySQL</a:t>
            </a:r>
            <a:endParaRPr lang="en-US" sz="1350" dirty="0"/>
          </a:p>
        </p:txBody>
      </p:sp>
      <p:sp>
        <p:nvSpPr>
          <p:cNvPr id="35" name="Text 26"/>
          <p:cNvSpPr/>
          <p:nvPr/>
        </p:nvSpPr>
        <p:spPr>
          <a:xfrm>
            <a:off x="7178040" y="4437126"/>
            <a:ext cx="4251960" cy="476768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A6B8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load_cleaned_data_to_db() batch-inserts cleaned tables into MySQL.</a:t>
            </a:r>
            <a:endParaRPr lang="en-US" sz="1000" dirty="0"/>
          </a:p>
        </p:txBody>
      </p:sp>
      <p:sp>
        <p:nvSpPr>
          <p:cNvPr id="36" name="Shape 27"/>
          <p:cNvSpPr/>
          <p:nvPr/>
        </p:nvSpPr>
        <p:spPr>
          <a:xfrm>
            <a:off x="548640" y="5180076"/>
            <a:ext cx="5349240" cy="1083564"/>
          </a:xfrm>
          <a:prstGeom prst="roundRect">
            <a:avLst>
              <a:gd name="adj" fmla="val 5907"/>
            </a:avLst>
          </a:prstGeom>
          <a:solidFill>
            <a:srgbClr val="FFFFFF"/>
          </a:solidFill>
          <a:ln w="12700">
            <a:solidFill>
              <a:srgbClr val="DCE6EF"/>
            </a:solidFill>
            <a:prstDash val="solid"/>
          </a:ln>
          <a:effectLst>
            <a:outerShdw blurRad="63500" dist="25400" dir="5400000" algn="bl" rotWithShape="0">
              <a:srgbClr val="8FA6C4">
                <a:alpha val="25000"/>
              </a:srgbClr>
            </a:outerShdw>
          </a:effectLst>
        </p:spPr>
      </p:sp>
      <p:sp>
        <p:nvSpPr>
          <p:cNvPr id="37" name="Shape 28"/>
          <p:cNvSpPr/>
          <p:nvPr/>
        </p:nvSpPr>
        <p:spPr>
          <a:xfrm>
            <a:off x="749808" y="5465826"/>
            <a:ext cx="512064" cy="512064"/>
          </a:xfrm>
          <a:prstGeom prst="ellipse">
            <a:avLst/>
          </a:prstGeom>
          <a:solidFill>
            <a:srgbClr val="1C7293"/>
          </a:solidFill>
        </p:spPr>
      </p:sp>
      <p:pic>
        <p:nvPicPr>
          <p:cNvPr id="38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72703" y="5588721"/>
            <a:ext cx="266273" cy="266273"/>
          </a:xfrm>
          <a:prstGeom prst="rect">
            <a:avLst/>
          </a:prstGeom>
        </p:spPr>
      </p:pic>
      <p:sp>
        <p:nvSpPr>
          <p:cNvPr id="39" name="Text 29"/>
          <p:cNvSpPr/>
          <p:nvPr/>
        </p:nvSpPr>
        <p:spPr>
          <a:xfrm>
            <a:off x="1463040" y="5308092"/>
            <a:ext cx="4251960" cy="455097"/>
          </a:xfrm>
          <a:prstGeom prst="rect">
            <a:avLst/>
          </a:prstGeom>
          <a:noFill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350" b="1" dirty="0">
                <a:solidFill>
                  <a:srgbClr val="2129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7. Generate Report</a:t>
            </a:r>
            <a:endParaRPr lang="en-US" sz="1350" dirty="0"/>
          </a:p>
        </p:txBody>
      </p:sp>
      <p:sp>
        <p:nvSpPr>
          <p:cNvPr id="40" name="Text 30"/>
          <p:cNvSpPr/>
          <p:nvPr/>
        </p:nvSpPr>
        <p:spPr>
          <a:xfrm>
            <a:off x="1463040" y="5721858"/>
            <a:ext cx="4251960" cy="476768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A6B8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generate_data_quality_report() summarizes rejects &amp; data quality.</a:t>
            </a:r>
            <a:endParaRPr lang="en-US" sz="1000" dirty="0"/>
          </a:p>
        </p:txBody>
      </p:sp>
      <p:sp>
        <p:nvSpPr>
          <p:cNvPr id="41" name="Shape 31"/>
          <p:cNvSpPr/>
          <p:nvPr/>
        </p:nvSpPr>
        <p:spPr>
          <a:xfrm>
            <a:off x="6263640" y="5180076"/>
            <a:ext cx="5349240" cy="1083564"/>
          </a:xfrm>
          <a:prstGeom prst="roundRect">
            <a:avLst>
              <a:gd name="adj" fmla="val 5907"/>
            </a:avLst>
          </a:prstGeom>
          <a:solidFill>
            <a:srgbClr val="FFFFFF"/>
          </a:solidFill>
          <a:ln w="12700">
            <a:solidFill>
              <a:srgbClr val="DCE6EF"/>
            </a:solidFill>
            <a:prstDash val="solid"/>
          </a:ln>
          <a:effectLst>
            <a:outerShdw blurRad="63500" dist="25400" dir="5400000" algn="bl" rotWithShape="0">
              <a:srgbClr val="8FA6C4">
                <a:alpha val="25000"/>
              </a:srgbClr>
            </a:outerShdw>
          </a:effectLst>
        </p:spPr>
      </p:sp>
      <p:sp>
        <p:nvSpPr>
          <p:cNvPr id="42" name="Shape 32"/>
          <p:cNvSpPr/>
          <p:nvPr/>
        </p:nvSpPr>
        <p:spPr>
          <a:xfrm>
            <a:off x="6464808" y="5465826"/>
            <a:ext cx="512064" cy="512064"/>
          </a:xfrm>
          <a:prstGeom prst="ellipse">
            <a:avLst/>
          </a:prstGeom>
          <a:solidFill>
            <a:srgbClr val="1C7293"/>
          </a:solidFill>
        </p:spPr>
      </p:sp>
      <p:pic>
        <p:nvPicPr>
          <p:cNvPr id="43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87703" y="5588721"/>
            <a:ext cx="266273" cy="266273"/>
          </a:xfrm>
          <a:prstGeom prst="rect">
            <a:avLst/>
          </a:prstGeom>
        </p:spPr>
      </p:pic>
      <p:sp>
        <p:nvSpPr>
          <p:cNvPr id="44" name="Text 33"/>
          <p:cNvSpPr/>
          <p:nvPr/>
        </p:nvSpPr>
        <p:spPr>
          <a:xfrm>
            <a:off x="7178040" y="5308092"/>
            <a:ext cx="4251960" cy="455097"/>
          </a:xfrm>
          <a:prstGeom prst="rect">
            <a:avLst/>
          </a:prstGeom>
          <a:noFill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350" b="1" dirty="0">
                <a:solidFill>
                  <a:srgbClr val="2129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8. SQL Analysis</a:t>
            </a:r>
            <a:endParaRPr lang="en-US" sz="1350" dirty="0"/>
          </a:p>
        </p:txBody>
      </p:sp>
      <p:sp>
        <p:nvSpPr>
          <p:cNvPr id="45" name="Text 34"/>
          <p:cNvSpPr/>
          <p:nvPr/>
        </p:nvSpPr>
        <p:spPr>
          <a:xfrm>
            <a:off x="7178040" y="5721858"/>
            <a:ext cx="4251960" cy="476768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A6B8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run_business_analysis() executes SQL for revenue &amp; business insights.</a:t>
            </a:r>
            <a:endParaRPr lang="en-US" sz="1000" dirty="0"/>
          </a:p>
        </p:txBody>
      </p:sp>
      <p:sp>
        <p:nvSpPr>
          <p:cNvPr id="46" name="Text 35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B8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Customer Sales ETL Pipeline</a:t>
            </a:r>
            <a:endParaRPr lang="en-US" sz="900" dirty="0"/>
          </a:p>
        </p:txBody>
      </p:sp>
      <p:sp>
        <p:nvSpPr>
          <p:cNvPr id="47" name="Text 36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8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566928" cy="566928"/>
          </a:xfrm>
          <a:prstGeom prst="ellipse">
            <a:avLst/>
          </a:prstGeom>
          <a:solidFill>
            <a:srgbClr val="1C7293"/>
          </a:solidFill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4703" y="520111"/>
            <a:ext cx="294803" cy="29480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320040"/>
            <a:ext cx="96012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21295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Key Modules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1280160" y="804672"/>
            <a:ext cx="98755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A6B8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Core Python modules that implement each pipeline stage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548640" y="1325880"/>
            <a:ext cx="5349240" cy="1083564"/>
          </a:xfrm>
          <a:prstGeom prst="roundRect">
            <a:avLst>
              <a:gd name="adj" fmla="val 5907"/>
            </a:avLst>
          </a:prstGeom>
          <a:solidFill>
            <a:srgbClr val="FFFFFF"/>
          </a:solidFill>
          <a:ln w="12700">
            <a:solidFill>
              <a:srgbClr val="DCE6EF"/>
            </a:solidFill>
            <a:prstDash val="solid"/>
          </a:ln>
          <a:effectLst>
            <a:outerShdw blurRad="63500" dist="25400" dir="5400000" algn="bl" rotWithShape="0">
              <a:srgbClr val="8FA6C4">
                <a:alpha val="2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49808" y="1611630"/>
            <a:ext cx="512064" cy="512064"/>
          </a:xfrm>
          <a:prstGeom prst="ellipse">
            <a:avLst/>
          </a:prstGeom>
          <a:solidFill>
            <a:srgbClr val="1C7293"/>
          </a:solidFill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2703" y="1734525"/>
            <a:ext cx="266273" cy="266273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463040" y="1453896"/>
            <a:ext cx="4251960" cy="455097"/>
          </a:xfrm>
          <a:prstGeom prst="rect">
            <a:avLst/>
          </a:prstGeom>
          <a:noFill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350" b="1" dirty="0">
                <a:solidFill>
                  <a:srgbClr val="2129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AppRun.py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1463040" y="1867662"/>
            <a:ext cx="4251960" cy="476768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A6B8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Main entry point — orchestrates the full ETL pipeline end to end.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6263640" y="1325880"/>
            <a:ext cx="5349240" cy="1083564"/>
          </a:xfrm>
          <a:prstGeom prst="roundRect">
            <a:avLst>
              <a:gd name="adj" fmla="val 5907"/>
            </a:avLst>
          </a:prstGeom>
          <a:solidFill>
            <a:srgbClr val="FFFFFF"/>
          </a:solidFill>
          <a:ln w="12700">
            <a:solidFill>
              <a:srgbClr val="DCE6EF"/>
            </a:solidFill>
            <a:prstDash val="solid"/>
          </a:ln>
          <a:effectLst>
            <a:outerShdw blurRad="63500" dist="25400" dir="5400000" algn="bl" rotWithShape="0">
              <a:srgbClr val="8FA6C4">
                <a:alpha val="25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6464808" y="1611630"/>
            <a:ext cx="512064" cy="512064"/>
          </a:xfrm>
          <a:prstGeom prst="ellipse">
            <a:avLst/>
          </a:prstGeom>
          <a:solidFill>
            <a:srgbClr val="1C7293"/>
          </a:solidFill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7703" y="1734525"/>
            <a:ext cx="266273" cy="266273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178040" y="1453896"/>
            <a:ext cx="4251960" cy="455097"/>
          </a:xfrm>
          <a:prstGeom prst="rect">
            <a:avLst/>
          </a:prstGeom>
          <a:noFill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350" b="1" dirty="0">
                <a:solidFill>
                  <a:srgbClr val="2129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 Generator</a:t>
            </a:r>
            <a:endParaRPr lang="en-US" sz="1350" dirty="0"/>
          </a:p>
        </p:txBody>
      </p:sp>
      <p:sp>
        <p:nvSpPr>
          <p:cNvPr id="15" name="Text 10"/>
          <p:cNvSpPr/>
          <p:nvPr/>
        </p:nvSpPr>
        <p:spPr>
          <a:xfrm>
            <a:off x="7178040" y="1867662"/>
            <a:ext cx="4251960" cy="476768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A6B8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data_generator.py — builds mock customer, product &amp; order datasets.</a:t>
            </a:r>
            <a:endParaRPr lang="en-US" sz="1000" dirty="0"/>
          </a:p>
        </p:txBody>
      </p:sp>
      <p:sp>
        <p:nvSpPr>
          <p:cNvPr id="16" name="Shape 11"/>
          <p:cNvSpPr/>
          <p:nvPr/>
        </p:nvSpPr>
        <p:spPr>
          <a:xfrm>
            <a:off x="548640" y="2610612"/>
            <a:ext cx="5349240" cy="1083564"/>
          </a:xfrm>
          <a:prstGeom prst="roundRect">
            <a:avLst>
              <a:gd name="adj" fmla="val 5907"/>
            </a:avLst>
          </a:prstGeom>
          <a:solidFill>
            <a:srgbClr val="FFFFFF"/>
          </a:solidFill>
          <a:ln w="12700">
            <a:solidFill>
              <a:srgbClr val="DCE6EF"/>
            </a:solidFill>
            <a:prstDash val="solid"/>
          </a:ln>
          <a:effectLst>
            <a:outerShdw blurRad="63500" dist="25400" dir="5400000" algn="bl" rotWithShape="0">
              <a:srgbClr val="8FA6C4">
                <a:alpha val="25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749808" y="2896362"/>
            <a:ext cx="512064" cy="512064"/>
          </a:xfrm>
          <a:prstGeom prst="ellipse">
            <a:avLst/>
          </a:prstGeom>
          <a:solidFill>
            <a:srgbClr val="1C7293"/>
          </a:solidFill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2703" y="3019257"/>
            <a:ext cx="266273" cy="266273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463040" y="2738628"/>
            <a:ext cx="4251960" cy="455097"/>
          </a:xfrm>
          <a:prstGeom prst="rect">
            <a:avLst/>
          </a:prstGeom>
          <a:noFill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350" b="1" dirty="0">
                <a:solidFill>
                  <a:srgbClr val="2129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 Injection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1463040" y="3152394"/>
            <a:ext cx="4251960" cy="476768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A6B8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data_injection.py — injects data quality issues into raw CSVs.</a:t>
            </a:r>
            <a:endParaRPr lang="en-US" sz="1000" dirty="0"/>
          </a:p>
        </p:txBody>
      </p:sp>
      <p:sp>
        <p:nvSpPr>
          <p:cNvPr id="21" name="Shape 15"/>
          <p:cNvSpPr/>
          <p:nvPr/>
        </p:nvSpPr>
        <p:spPr>
          <a:xfrm>
            <a:off x="6263640" y="2610612"/>
            <a:ext cx="5349240" cy="1083564"/>
          </a:xfrm>
          <a:prstGeom prst="roundRect">
            <a:avLst>
              <a:gd name="adj" fmla="val 5907"/>
            </a:avLst>
          </a:prstGeom>
          <a:solidFill>
            <a:srgbClr val="FFFFFF"/>
          </a:solidFill>
          <a:ln w="12700">
            <a:solidFill>
              <a:srgbClr val="DCE6EF"/>
            </a:solidFill>
            <a:prstDash val="solid"/>
          </a:ln>
          <a:effectLst>
            <a:outerShdw blurRad="63500" dist="25400" dir="5400000" algn="bl" rotWithShape="0">
              <a:srgbClr val="8FA6C4">
                <a:alpha val="25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6464808" y="2896362"/>
            <a:ext cx="512064" cy="512064"/>
          </a:xfrm>
          <a:prstGeom prst="ellipse">
            <a:avLst/>
          </a:prstGeom>
          <a:solidFill>
            <a:srgbClr val="1C7293"/>
          </a:solidFill>
        </p:spPr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7703" y="3019257"/>
            <a:ext cx="266273" cy="266273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7178040" y="2738628"/>
            <a:ext cx="4251960" cy="455097"/>
          </a:xfrm>
          <a:prstGeom prst="rect">
            <a:avLst/>
          </a:prstGeom>
          <a:noFill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350" b="1" dirty="0">
                <a:solidFill>
                  <a:srgbClr val="2129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Cleaning Modules</a:t>
            </a:r>
            <a:endParaRPr lang="en-US" sz="1350" dirty="0"/>
          </a:p>
        </p:txBody>
      </p:sp>
      <p:sp>
        <p:nvSpPr>
          <p:cNvPr id="25" name="Text 18"/>
          <p:cNvSpPr/>
          <p:nvPr/>
        </p:nvSpPr>
        <p:spPr>
          <a:xfrm>
            <a:off x="7178040" y="3152394"/>
            <a:ext cx="4251960" cy="476768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A6B8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customer_/product_/order_cleaning.py — validate &amp; standardize records.</a:t>
            </a:r>
            <a:endParaRPr lang="en-US" sz="1000" dirty="0"/>
          </a:p>
        </p:txBody>
      </p:sp>
      <p:sp>
        <p:nvSpPr>
          <p:cNvPr id="26" name="Shape 19"/>
          <p:cNvSpPr/>
          <p:nvPr/>
        </p:nvSpPr>
        <p:spPr>
          <a:xfrm>
            <a:off x="548640" y="3895344"/>
            <a:ext cx="5349240" cy="1083564"/>
          </a:xfrm>
          <a:prstGeom prst="roundRect">
            <a:avLst>
              <a:gd name="adj" fmla="val 5907"/>
            </a:avLst>
          </a:prstGeom>
          <a:solidFill>
            <a:srgbClr val="FFFFFF"/>
          </a:solidFill>
          <a:ln w="12700">
            <a:solidFill>
              <a:srgbClr val="DCE6EF"/>
            </a:solidFill>
            <a:prstDash val="solid"/>
          </a:ln>
          <a:effectLst>
            <a:outerShdw blurRad="63500" dist="25400" dir="5400000" algn="bl" rotWithShape="0">
              <a:srgbClr val="8FA6C4">
                <a:alpha val="25000"/>
              </a:srgbClr>
            </a:outerShdw>
          </a:effectLst>
        </p:spPr>
      </p:sp>
      <p:sp>
        <p:nvSpPr>
          <p:cNvPr id="27" name="Shape 20"/>
          <p:cNvSpPr/>
          <p:nvPr/>
        </p:nvSpPr>
        <p:spPr>
          <a:xfrm>
            <a:off x="749808" y="4181094"/>
            <a:ext cx="512064" cy="512064"/>
          </a:xfrm>
          <a:prstGeom prst="ellipse">
            <a:avLst/>
          </a:prstGeom>
          <a:solidFill>
            <a:srgbClr val="1C7293"/>
          </a:solidFill>
        </p:spPr>
      </p:sp>
      <p:pic>
        <p:nvPicPr>
          <p:cNvPr id="28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2703" y="4303989"/>
            <a:ext cx="266273" cy="266273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1463040" y="4023360"/>
            <a:ext cx="4251960" cy="455097"/>
          </a:xfrm>
          <a:prstGeom prst="rect">
            <a:avLst/>
          </a:prstGeom>
          <a:noFill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350" b="1" dirty="0">
                <a:solidFill>
                  <a:srgbClr val="2129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Sales Transaction</a:t>
            </a:r>
            <a:endParaRPr lang="en-US" sz="1350" dirty="0"/>
          </a:p>
        </p:txBody>
      </p:sp>
      <p:sp>
        <p:nvSpPr>
          <p:cNvPr id="30" name="Text 22"/>
          <p:cNvSpPr/>
          <p:nvPr/>
        </p:nvSpPr>
        <p:spPr>
          <a:xfrm>
            <a:off x="1463040" y="4437126"/>
            <a:ext cx="4251960" cy="476768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A6B8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sales_transaction.py — builds the merged revenue dataset.</a:t>
            </a:r>
            <a:endParaRPr lang="en-US" sz="1000" dirty="0"/>
          </a:p>
        </p:txBody>
      </p:sp>
      <p:sp>
        <p:nvSpPr>
          <p:cNvPr id="31" name="Shape 23"/>
          <p:cNvSpPr/>
          <p:nvPr/>
        </p:nvSpPr>
        <p:spPr>
          <a:xfrm>
            <a:off x="6263640" y="3895344"/>
            <a:ext cx="5349240" cy="1083564"/>
          </a:xfrm>
          <a:prstGeom prst="roundRect">
            <a:avLst>
              <a:gd name="adj" fmla="val 5907"/>
            </a:avLst>
          </a:prstGeom>
          <a:solidFill>
            <a:srgbClr val="FFFFFF"/>
          </a:solidFill>
          <a:ln w="12700">
            <a:solidFill>
              <a:srgbClr val="DCE6EF"/>
            </a:solidFill>
            <a:prstDash val="solid"/>
          </a:ln>
          <a:effectLst>
            <a:outerShdw blurRad="63500" dist="25400" dir="5400000" algn="bl" rotWithShape="0">
              <a:srgbClr val="8FA6C4">
                <a:alpha val="25000"/>
              </a:srgbClr>
            </a:outerShdw>
          </a:effectLst>
        </p:spPr>
      </p:sp>
      <p:sp>
        <p:nvSpPr>
          <p:cNvPr id="32" name="Shape 24"/>
          <p:cNvSpPr/>
          <p:nvPr/>
        </p:nvSpPr>
        <p:spPr>
          <a:xfrm>
            <a:off x="6464808" y="4181094"/>
            <a:ext cx="512064" cy="512064"/>
          </a:xfrm>
          <a:prstGeom prst="ellipse">
            <a:avLst/>
          </a:prstGeom>
          <a:solidFill>
            <a:srgbClr val="1C7293"/>
          </a:solidFill>
        </p:spPr>
      </p:sp>
      <p:pic>
        <p:nvPicPr>
          <p:cNvPr id="33" name="Image 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7703" y="4303989"/>
            <a:ext cx="266273" cy="266273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7178040" y="4023360"/>
            <a:ext cx="4251960" cy="455097"/>
          </a:xfrm>
          <a:prstGeom prst="rect">
            <a:avLst/>
          </a:prstGeom>
          <a:noFill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350" b="1" dirty="0">
                <a:solidFill>
                  <a:srgbClr val="2129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Database Loader</a:t>
            </a:r>
            <a:endParaRPr lang="en-US" sz="1350" dirty="0"/>
          </a:p>
        </p:txBody>
      </p:sp>
      <p:sp>
        <p:nvSpPr>
          <p:cNvPr id="35" name="Text 26"/>
          <p:cNvSpPr/>
          <p:nvPr/>
        </p:nvSpPr>
        <p:spPr>
          <a:xfrm>
            <a:off x="7178040" y="4437126"/>
            <a:ext cx="4251960" cy="476768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A6B8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database_loader.py — truncates &amp; batch-loads tables into MySQL.</a:t>
            </a:r>
            <a:endParaRPr lang="en-US" sz="1000" dirty="0"/>
          </a:p>
        </p:txBody>
      </p:sp>
      <p:sp>
        <p:nvSpPr>
          <p:cNvPr id="36" name="Shape 27"/>
          <p:cNvSpPr/>
          <p:nvPr/>
        </p:nvSpPr>
        <p:spPr>
          <a:xfrm>
            <a:off x="548640" y="5180076"/>
            <a:ext cx="5349240" cy="1083564"/>
          </a:xfrm>
          <a:prstGeom prst="roundRect">
            <a:avLst>
              <a:gd name="adj" fmla="val 5907"/>
            </a:avLst>
          </a:prstGeom>
          <a:solidFill>
            <a:srgbClr val="FFFFFF"/>
          </a:solidFill>
          <a:ln w="12700">
            <a:solidFill>
              <a:srgbClr val="DCE6EF"/>
            </a:solidFill>
            <a:prstDash val="solid"/>
          </a:ln>
          <a:effectLst>
            <a:outerShdw blurRad="63500" dist="25400" dir="5400000" algn="bl" rotWithShape="0">
              <a:srgbClr val="8FA6C4">
                <a:alpha val="25000"/>
              </a:srgbClr>
            </a:outerShdw>
          </a:effectLst>
        </p:spPr>
      </p:sp>
      <p:sp>
        <p:nvSpPr>
          <p:cNvPr id="37" name="Shape 28"/>
          <p:cNvSpPr/>
          <p:nvPr/>
        </p:nvSpPr>
        <p:spPr>
          <a:xfrm>
            <a:off x="749808" y="5465826"/>
            <a:ext cx="512064" cy="512064"/>
          </a:xfrm>
          <a:prstGeom prst="ellipse">
            <a:avLst/>
          </a:prstGeom>
          <a:solidFill>
            <a:srgbClr val="1C7293"/>
          </a:solidFill>
        </p:spPr>
      </p:sp>
      <p:pic>
        <p:nvPicPr>
          <p:cNvPr id="38" name="Image 7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2703" y="5588721"/>
            <a:ext cx="266273" cy="266273"/>
          </a:xfrm>
          <a:prstGeom prst="rect">
            <a:avLst/>
          </a:prstGeom>
        </p:spPr>
      </p:pic>
      <p:sp>
        <p:nvSpPr>
          <p:cNvPr id="39" name="Text 29"/>
          <p:cNvSpPr/>
          <p:nvPr/>
        </p:nvSpPr>
        <p:spPr>
          <a:xfrm>
            <a:off x="1463040" y="5308092"/>
            <a:ext cx="4251960" cy="455097"/>
          </a:xfrm>
          <a:prstGeom prst="rect">
            <a:avLst/>
          </a:prstGeom>
          <a:noFill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350" b="1" dirty="0">
                <a:solidFill>
                  <a:srgbClr val="2129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 Quality Report</a:t>
            </a:r>
            <a:endParaRPr lang="en-US" sz="1350" dirty="0"/>
          </a:p>
        </p:txBody>
      </p:sp>
      <p:sp>
        <p:nvSpPr>
          <p:cNvPr id="40" name="Text 30"/>
          <p:cNvSpPr/>
          <p:nvPr/>
        </p:nvSpPr>
        <p:spPr>
          <a:xfrm>
            <a:off x="1463040" y="5721858"/>
            <a:ext cx="4251960" cy="476768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A6B8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data_quality_report.py — compiles &amp; exports the DQ report CSV.</a:t>
            </a:r>
            <a:endParaRPr lang="en-US" sz="1000" dirty="0"/>
          </a:p>
        </p:txBody>
      </p:sp>
      <p:sp>
        <p:nvSpPr>
          <p:cNvPr id="41" name="Shape 31"/>
          <p:cNvSpPr/>
          <p:nvPr/>
        </p:nvSpPr>
        <p:spPr>
          <a:xfrm>
            <a:off x="6263640" y="5180076"/>
            <a:ext cx="5349240" cy="1083564"/>
          </a:xfrm>
          <a:prstGeom prst="roundRect">
            <a:avLst>
              <a:gd name="adj" fmla="val 5907"/>
            </a:avLst>
          </a:prstGeom>
          <a:solidFill>
            <a:srgbClr val="FFFFFF"/>
          </a:solidFill>
          <a:ln w="12700">
            <a:solidFill>
              <a:srgbClr val="DCE6EF"/>
            </a:solidFill>
            <a:prstDash val="solid"/>
          </a:ln>
          <a:effectLst>
            <a:outerShdw blurRad="63500" dist="25400" dir="5400000" algn="bl" rotWithShape="0">
              <a:srgbClr val="8FA6C4">
                <a:alpha val="25000"/>
              </a:srgbClr>
            </a:outerShdw>
          </a:effectLst>
        </p:spPr>
      </p:sp>
      <p:sp>
        <p:nvSpPr>
          <p:cNvPr id="42" name="Shape 32"/>
          <p:cNvSpPr/>
          <p:nvPr/>
        </p:nvSpPr>
        <p:spPr>
          <a:xfrm>
            <a:off x="6464808" y="5465826"/>
            <a:ext cx="512064" cy="512064"/>
          </a:xfrm>
          <a:prstGeom prst="ellipse">
            <a:avLst/>
          </a:prstGeom>
          <a:solidFill>
            <a:srgbClr val="1C7293"/>
          </a:solidFill>
        </p:spPr>
      </p:sp>
      <p:pic>
        <p:nvPicPr>
          <p:cNvPr id="43" name="Image 8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87703" y="5588721"/>
            <a:ext cx="266273" cy="266273"/>
          </a:xfrm>
          <a:prstGeom prst="rect">
            <a:avLst/>
          </a:prstGeom>
        </p:spPr>
      </p:pic>
      <p:sp>
        <p:nvSpPr>
          <p:cNvPr id="44" name="Text 33"/>
          <p:cNvSpPr/>
          <p:nvPr/>
        </p:nvSpPr>
        <p:spPr>
          <a:xfrm>
            <a:off x="7178040" y="5308092"/>
            <a:ext cx="4251960" cy="455097"/>
          </a:xfrm>
          <a:prstGeom prst="rect">
            <a:avLst/>
          </a:prstGeom>
          <a:noFill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350" b="1" dirty="0">
                <a:solidFill>
                  <a:srgbClr val="2129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SQL Analysis</a:t>
            </a:r>
            <a:endParaRPr lang="en-US" sz="1350" dirty="0"/>
          </a:p>
        </p:txBody>
      </p:sp>
      <p:sp>
        <p:nvSpPr>
          <p:cNvPr id="45" name="Text 34"/>
          <p:cNvSpPr/>
          <p:nvPr/>
        </p:nvSpPr>
        <p:spPr>
          <a:xfrm>
            <a:off x="7178040" y="5721858"/>
            <a:ext cx="4251960" cy="476768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A6B8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sql_analysis.py — runs business_analysis.sql for key insights.</a:t>
            </a:r>
            <a:endParaRPr lang="en-US" sz="1000" dirty="0"/>
          </a:p>
        </p:txBody>
      </p:sp>
      <p:sp>
        <p:nvSpPr>
          <p:cNvPr id="46" name="Text 35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B8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Customer Sales ETL Pipeline</a:t>
            </a:r>
            <a:endParaRPr lang="en-US" sz="900" dirty="0"/>
          </a:p>
        </p:txBody>
      </p:sp>
      <p:sp>
        <p:nvSpPr>
          <p:cNvPr id="47" name="Text 36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8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566928" cy="566928"/>
          </a:xfrm>
          <a:prstGeom prst="ellipse">
            <a:avLst/>
          </a:prstGeom>
          <a:solidFill>
            <a:srgbClr val="1C7293"/>
          </a:solidFill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4703" y="520111"/>
            <a:ext cx="294803" cy="29480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320040"/>
            <a:ext cx="96012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21295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Pipeline Outputs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1280160" y="804672"/>
            <a:ext cx="98755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A6B8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Artifacts produced once the pipeline completes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548640" y="1325880"/>
            <a:ext cx="5349240" cy="1083564"/>
          </a:xfrm>
          <a:prstGeom prst="roundRect">
            <a:avLst>
              <a:gd name="adj" fmla="val 5907"/>
            </a:avLst>
          </a:prstGeom>
          <a:solidFill>
            <a:srgbClr val="FFFFFF"/>
          </a:solidFill>
          <a:ln w="12700">
            <a:solidFill>
              <a:srgbClr val="DCE6EF"/>
            </a:solidFill>
            <a:prstDash val="solid"/>
          </a:ln>
          <a:effectLst>
            <a:outerShdw blurRad="63500" dist="25400" dir="5400000" algn="bl" rotWithShape="0">
              <a:srgbClr val="8FA6C4">
                <a:alpha val="2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49808" y="1611630"/>
            <a:ext cx="512064" cy="512064"/>
          </a:xfrm>
          <a:prstGeom prst="ellipse">
            <a:avLst/>
          </a:prstGeom>
          <a:solidFill>
            <a:srgbClr val="1C7293"/>
          </a:solidFill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2703" y="1734525"/>
            <a:ext cx="266273" cy="266273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463040" y="1453896"/>
            <a:ext cx="4251960" cy="455097"/>
          </a:xfrm>
          <a:prstGeom prst="rect">
            <a:avLst/>
          </a:prstGeom>
          <a:noFill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350" b="1" dirty="0">
                <a:solidFill>
                  <a:srgbClr val="2129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Cleaned CSVs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1463040" y="1867662"/>
            <a:ext cx="4251960" cy="476768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A6B8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Valid_Data/ — clean Customers, Products, Orders.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6263640" y="1325880"/>
            <a:ext cx="5349240" cy="1083564"/>
          </a:xfrm>
          <a:prstGeom prst="roundRect">
            <a:avLst>
              <a:gd name="adj" fmla="val 5907"/>
            </a:avLst>
          </a:prstGeom>
          <a:solidFill>
            <a:srgbClr val="FFFFFF"/>
          </a:solidFill>
          <a:ln w="12700">
            <a:solidFill>
              <a:srgbClr val="DCE6EF"/>
            </a:solidFill>
            <a:prstDash val="solid"/>
          </a:ln>
          <a:effectLst>
            <a:outerShdw blurRad="63500" dist="25400" dir="5400000" algn="bl" rotWithShape="0">
              <a:srgbClr val="8FA6C4">
                <a:alpha val="25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6464808" y="1611630"/>
            <a:ext cx="512064" cy="512064"/>
          </a:xfrm>
          <a:prstGeom prst="ellipse">
            <a:avLst/>
          </a:prstGeom>
          <a:solidFill>
            <a:srgbClr val="1C7293"/>
          </a:solidFill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7703" y="1734525"/>
            <a:ext cx="266273" cy="266273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178040" y="1453896"/>
            <a:ext cx="4251960" cy="455097"/>
          </a:xfrm>
          <a:prstGeom prst="rect">
            <a:avLst/>
          </a:prstGeom>
          <a:noFill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350" b="1" dirty="0">
                <a:solidFill>
                  <a:srgbClr val="2129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Rejected CSVs</a:t>
            </a:r>
            <a:endParaRPr lang="en-US" sz="1350" dirty="0"/>
          </a:p>
        </p:txBody>
      </p:sp>
      <p:sp>
        <p:nvSpPr>
          <p:cNvPr id="15" name="Text 10"/>
          <p:cNvSpPr/>
          <p:nvPr/>
        </p:nvSpPr>
        <p:spPr>
          <a:xfrm>
            <a:off x="7178040" y="1867662"/>
            <a:ext cx="4251960" cy="476768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A6B8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Rejected_Data/ — records that failed validation rules.</a:t>
            </a:r>
            <a:endParaRPr lang="en-US" sz="1000" dirty="0"/>
          </a:p>
        </p:txBody>
      </p:sp>
      <p:sp>
        <p:nvSpPr>
          <p:cNvPr id="16" name="Shape 11"/>
          <p:cNvSpPr/>
          <p:nvPr/>
        </p:nvSpPr>
        <p:spPr>
          <a:xfrm>
            <a:off x="548640" y="2610612"/>
            <a:ext cx="5349240" cy="1083564"/>
          </a:xfrm>
          <a:prstGeom prst="roundRect">
            <a:avLst>
              <a:gd name="adj" fmla="val 5907"/>
            </a:avLst>
          </a:prstGeom>
          <a:solidFill>
            <a:srgbClr val="FFFFFF"/>
          </a:solidFill>
          <a:ln w="12700">
            <a:solidFill>
              <a:srgbClr val="DCE6EF"/>
            </a:solidFill>
            <a:prstDash val="solid"/>
          </a:ln>
          <a:effectLst>
            <a:outerShdw blurRad="63500" dist="25400" dir="5400000" algn="bl" rotWithShape="0">
              <a:srgbClr val="8FA6C4">
                <a:alpha val="25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749808" y="2896362"/>
            <a:ext cx="512064" cy="512064"/>
          </a:xfrm>
          <a:prstGeom prst="ellipse">
            <a:avLst/>
          </a:prstGeom>
          <a:solidFill>
            <a:srgbClr val="1C7293"/>
          </a:solidFill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2703" y="3019257"/>
            <a:ext cx="266273" cy="266273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463040" y="2738628"/>
            <a:ext cx="4251960" cy="455097"/>
          </a:xfrm>
          <a:prstGeom prst="rect">
            <a:avLst/>
          </a:prstGeom>
          <a:noFill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350" b="1" dirty="0">
                <a:solidFill>
                  <a:srgbClr val="2129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Sales_Transaction.csv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1463040" y="3152394"/>
            <a:ext cx="4251960" cy="476768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A6B8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Merged dataset with calculated revenue.</a:t>
            </a:r>
            <a:endParaRPr lang="en-US" sz="1000" dirty="0"/>
          </a:p>
        </p:txBody>
      </p:sp>
      <p:sp>
        <p:nvSpPr>
          <p:cNvPr id="21" name="Shape 15"/>
          <p:cNvSpPr/>
          <p:nvPr/>
        </p:nvSpPr>
        <p:spPr>
          <a:xfrm>
            <a:off x="6263640" y="2610612"/>
            <a:ext cx="5349240" cy="1083564"/>
          </a:xfrm>
          <a:prstGeom prst="roundRect">
            <a:avLst>
              <a:gd name="adj" fmla="val 5907"/>
            </a:avLst>
          </a:prstGeom>
          <a:solidFill>
            <a:srgbClr val="FFFFFF"/>
          </a:solidFill>
          <a:ln w="12700">
            <a:solidFill>
              <a:srgbClr val="DCE6EF"/>
            </a:solidFill>
            <a:prstDash val="solid"/>
          </a:ln>
          <a:effectLst>
            <a:outerShdw blurRad="63500" dist="25400" dir="5400000" algn="bl" rotWithShape="0">
              <a:srgbClr val="8FA6C4">
                <a:alpha val="25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6464808" y="2896362"/>
            <a:ext cx="512064" cy="512064"/>
          </a:xfrm>
          <a:prstGeom prst="ellipse">
            <a:avLst/>
          </a:prstGeom>
          <a:solidFill>
            <a:srgbClr val="1C7293"/>
          </a:solidFill>
        </p:spPr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7703" y="3019257"/>
            <a:ext cx="266273" cy="266273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7178040" y="2738628"/>
            <a:ext cx="4251960" cy="455097"/>
          </a:xfrm>
          <a:prstGeom prst="rect">
            <a:avLst/>
          </a:prstGeom>
          <a:noFill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350" b="1" dirty="0">
                <a:solidFill>
                  <a:srgbClr val="2129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MySQL Tables</a:t>
            </a:r>
            <a:endParaRPr lang="en-US" sz="1350" dirty="0"/>
          </a:p>
        </p:txBody>
      </p:sp>
      <p:sp>
        <p:nvSpPr>
          <p:cNvPr id="25" name="Text 18"/>
          <p:cNvSpPr/>
          <p:nvPr/>
        </p:nvSpPr>
        <p:spPr>
          <a:xfrm>
            <a:off x="7178040" y="3152394"/>
            <a:ext cx="4251960" cy="476768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A6B8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Cleaned &amp; sales data loaded via batch inserts.</a:t>
            </a:r>
            <a:endParaRPr lang="en-US" sz="1000" dirty="0"/>
          </a:p>
        </p:txBody>
      </p:sp>
      <p:sp>
        <p:nvSpPr>
          <p:cNvPr id="26" name="Shape 19"/>
          <p:cNvSpPr/>
          <p:nvPr/>
        </p:nvSpPr>
        <p:spPr>
          <a:xfrm>
            <a:off x="548640" y="3895344"/>
            <a:ext cx="5349240" cy="1083564"/>
          </a:xfrm>
          <a:prstGeom prst="roundRect">
            <a:avLst>
              <a:gd name="adj" fmla="val 5907"/>
            </a:avLst>
          </a:prstGeom>
          <a:solidFill>
            <a:srgbClr val="FFFFFF"/>
          </a:solidFill>
          <a:ln w="12700">
            <a:solidFill>
              <a:srgbClr val="DCE6EF"/>
            </a:solidFill>
            <a:prstDash val="solid"/>
          </a:ln>
          <a:effectLst>
            <a:outerShdw blurRad="63500" dist="25400" dir="5400000" algn="bl" rotWithShape="0">
              <a:srgbClr val="8FA6C4">
                <a:alpha val="25000"/>
              </a:srgbClr>
            </a:outerShdw>
          </a:effectLst>
        </p:spPr>
      </p:sp>
      <p:sp>
        <p:nvSpPr>
          <p:cNvPr id="27" name="Shape 20"/>
          <p:cNvSpPr/>
          <p:nvPr/>
        </p:nvSpPr>
        <p:spPr>
          <a:xfrm>
            <a:off x="749808" y="4181094"/>
            <a:ext cx="512064" cy="512064"/>
          </a:xfrm>
          <a:prstGeom prst="ellipse">
            <a:avLst/>
          </a:prstGeom>
          <a:solidFill>
            <a:srgbClr val="1C7293"/>
          </a:solidFill>
        </p:spPr>
      </p:sp>
      <p:pic>
        <p:nvPicPr>
          <p:cNvPr id="28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2703" y="4303989"/>
            <a:ext cx="266273" cy="266273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1463040" y="4023360"/>
            <a:ext cx="4251960" cy="455097"/>
          </a:xfrm>
          <a:prstGeom prst="rect">
            <a:avLst/>
          </a:prstGeom>
          <a:noFill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350" b="1" dirty="0">
                <a:solidFill>
                  <a:srgbClr val="2129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 Quality Report</a:t>
            </a:r>
            <a:endParaRPr lang="en-US" sz="1350" dirty="0"/>
          </a:p>
        </p:txBody>
      </p:sp>
      <p:sp>
        <p:nvSpPr>
          <p:cNvPr id="30" name="Text 22"/>
          <p:cNvSpPr/>
          <p:nvPr/>
        </p:nvSpPr>
        <p:spPr>
          <a:xfrm>
            <a:off x="1463040" y="4437126"/>
            <a:ext cx="4251960" cy="476768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A6B8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Summary of missing, duplicate &amp; invalid records.</a:t>
            </a:r>
            <a:endParaRPr lang="en-US" sz="1000" dirty="0"/>
          </a:p>
        </p:txBody>
      </p:sp>
      <p:sp>
        <p:nvSpPr>
          <p:cNvPr id="31" name="Shape 23"/>
          <p:cNvSpPr/>
          <p:nvPr/>
        </p:nvSpPr>
        <p:spPr>
          <a:xfrm>
            <a:off x="6263640" y="3895344"/>
            <a:ext cx="5349240" cy="1083564"/>
          </a:xfrm>
          <a:prstGeom prst="roundRect">
            <a:avLst>
              <a:gd name="adj" fmla="val 5907"/>
            </a:avLst>
          </a:prstGeom>
          <a:solidFill>
            <a:srgbClr val="FFFFFF"/>
          </a:solidFill>
          <a:ln w="12700">
            <a:solidFill>
              <a:srgbClr val="DCE6EF"/>
            </a:solidFill>
            <a:prstDash val="solid"/>
          </a:ln>
          <a:effectLst>
            <a:outerShdw blurRad="63500" dist="25400" dir="5400000" algn="bl" rotWithShape="0">
              <a:srgbClr val="8FA6C4">
                <a:alpha val="25000"/>
              </a:srgbClr>
            </a:outerShdw>
          </a:effectLst>
        </p:spPr>
      </p:sp>
      <p:sp>
        <p:nvSpPr>
          <p:cNvPr id="32" name="Shape 24"/>
          <p:cNvSpPr/>
          <p:nvPr/>
        </p:nvSpPr>
        <p:spPr>
          <a:xfrm>
            <a:off x="6464808" y="4181094"/>
            <a:ext cx="512064" cy="512064"/>
          </a:xfrm>
          <a:prstGeom prst="ellipse">
            <a:avLst/>
          </a:prstGeom>
          <a:solidFill>
            <a:srgbClr val="1C7293"/>
          </a:solidFill>
        </p:spPr>
      </p:sp>
      <p:pic>
        <p:nvPicPr>
          <p:cNvPr id="33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87703" y="4303989"/>
            <a:ext cx="266273" cy="266273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7178040" y="4023360"/>
            <a:ext cx="4251960" cy="455097"/>
          </a:xfrm>
          <a:prstGeom prst="rect">
            <a:avLst/>
          </a:prstGeom>
          <a:noFill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350" b="1" dirty="0">
                <a:solidFill>
                  <a:srgbClr val="2129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Business Insights</a:t>
            </a:r>
            <a:endParaRPr lang="en-US" sz="1350" dirty="0"/>
          </a:p>
        </p:txBody>
      </p:sp>
      <p:sp>
        <p:nvSpPr>
          <p:cNvPr id="35" name="Text 26"/>
          <p:cNvSpPr/>
          <p:nvPr/>
        </p:nvSpPr>
        <p:spPr>
          <a:xfrm>
            <a:off x="7178040" y="4437126"/>
            <a:ext cx="4251960" cy="476768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A6B8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Revenue, customer spend &amp; product performance results.</a:t>
            </a:r>
            <a:endParaRPr lang="en-US" sz="1000" dirty="0"/>
          </a:p>
        </p:txBody>
      </p:sp>
      <p:sp>
        <p:nvSpPr>
          <p:cNvPr id="36" name="Shape 27"/>
          <p:cNvSpPr/>
          <p:nvPr/>
        </p:nvSpPr>
        <p:spPr>
          <a:xfrm>
            <a:off x="548640" y="5180076"/>
            <a:ext cx="5349240" cy="1083564"/>
          </a:xfrm>
          <a:prstGeom prst="roundRect">
            <a:avLst>
              <a:gd name="adj" fmla="val 5907"/>
            </a:avLst>
          </a:prstGeom>
          <a:solidFill>
            <a:srgbClr val="FFFFFF"/>
          </a:solidFill>
          <a:ln w="12700">
            <a:solidFill>
              <a:srgbClr val="DCE6EF"/>
            </a:solidFill>
            <a:prstDash val="solid"/>
          </a:ln>
          <a:effectLst>
            <a:outerShdw blurRad="63500" dist="25400" dir="5400000" algn="bl" rotWithShape="0">
              <a:srgbClr val="8FA6C4">
                <a:alpha val="25000"/>
              </a:srgbClr>
            </a:outerShdw>
          </a:effectLst>
        </p:spPr>
      </p:sp>
      <p:sp>
        <p:nvSpPr>
          <p:cNvPr id="37" name="Shape 28"/>
          <p:cNvSpPr/>
          <p:nvPr/>
        </p:nvSpPr>
        <p:spPr>
          <a:xfrm>
            <a:off x="749808" y="5465826"/>
            <a:ext cx="512064" cy="512064"/>
          </a:xfrm>
          <a:prstGeom prst="ellipse">
            <a:avLst/>
          </a:prstGeom>
          <a:solidFill>
            <a:srgbClr val="1C7293"/>
          </a:solidFill>
        </p:spPr>
      </p:sp>
      <p:pic>
        <p:nvPicPr>
          <p:cNvPr id="38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72703" y="5588721"/>
            <a:ext cx="266273" cy="266273"/>
          </a:xfrm>
          <a:prstGeom prst="rect">
            <a:avLst/>
          </a:prstGeom>
        </p:spPr>
      </p:pic>
      <p:sp>
        <p:nvSpPr>
          <p:cNvPr id="39" name="Text 29"/>
          <p:cNvSpPr/>
          <p:nvPr/>
        </p:nvSpPr>
        <p:spPr>
          <a:xfrm>
            <a:off x="1463040" y="5308092"/>
            <a:ext cx="4251960" cy="455097"/>
          </a:xfrm>
          <a:prstGeom prst="rect">
            <a:avLst/>
          </a:prstGeom>
          <a:noFill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350" b="1" dirty="0">
                <a:solidFill>
                  <a:srgbClr val="2129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ETL Log</a:t>
            </a:r>
            <a:endParaRPr lang="en-US" sz="1350" dirty="0"/>
          </a:p>
        </p:txBody>
      </p:sp>
      <p:sp>
        <p:nvSpPr>
          <p:cNvPr id="40" name="Text 30"/>
          <p:cNvSpPr/>
          <p:nvPr/>
        </p:nvSpPr>
        <p:spPr>
          <a:xfrm>
            <a:off x="1463040" y="5721858"/>
            <a:ext cx="4251960" cy="476768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A6B8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logs/etl_pipeline.log — full run trace of every step.</a:t>
            </a:r>
            <a:endParaRPr lang="en-US" sz="1000" dirty="0"/>
          </a:p>
        </p:txBody>
      </p:sp>
      <p:sp>
        <p:nvSpPr>
          <p:cNvPr id="41" name="Text 31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B8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Customer Sales ETL Pipeline</a:t>
            </a:r>
            <a:endParaRPr lang="en-US" sz="900" dirty="0"/>
          </a:p>
        </p:txBody>
      </p:sp>
      <p:sp>
        <p:nvSpPr>
          <p:cNvPr id="42" name="Text 32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8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ext 0"/>
          <p:cNvSpPr/>
          <p:nvPr/>
        </p:nvSpPr>
        <p:spPr>
          <a:xfrm>
            <a:off x="329565" y="1094105"/>
            <a:ext cx="1106424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3200" dirty="0"/>
          </a:p>
        </p:txBody>
      </p:sp>
      <p:sp>
        <p:nvSpPr>
          <p:cNvPr id="64" name="Shape 2"/>
          <p:cNvSpPr/>
          <p:nvPr/>
        </p:nvSpPr>
        <p:spPr>
          <a:xfrm>
            <a:off x="1644650" y="2169795"/>
            <a:ext cx="9481185" cy="2242820"/>
          </a:xfrm>
          <a:prstGeom prst="roundRect">
            <a:avLst>
              <a:gd name="adj" fmla="val 5333"/>
            </a:avLst>
          </a:prstGeom>
          <a:solidFill>
            <a:srgbClr val="1C7293"/>
          </a:solidFill>
          <a:effectLst>
            <a:outerShdw blurRad="762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p>
            <a:endParaRPr lang="en-US"/>
          </a:p>
        </p:txBody>
      </p:sp>
      <p:sp>
        <p:nvSpPr>
          <p:cNvPr id="65" name="Text 0"/>
          <p:cNvSpPr/>
          <p:nvPr/>
        </p:nvSpPr>
        <p:spPr>
          <a:xfrm>
            <a:off x="644525" y="3106420"/>
            <a:ext cx="1106424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altLang="en-US" sz="4800" b="1" dirty="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Thank You</a:t>
            </a:r>
            <a:endParaRPr lang="en-US" altLang="en-US" sz="4800" b="1" dirty="0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2730</Words>
  <Application>WPS Presentation</Application>
  <PresentationFormat>On-screen Show (16:9)</PresentationFormat>
  <Paragraphs>185</Paragraphs>
  <Slides>6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6</vt:i4>
      </vt:variant>
    </vt:vector>
  </HeadingPairs>
  <TitlesOfParts>
    <vt:vector size="22" baseType="lpstr">
      <vt:lpstr>Arial</vt:lpstr>
      <vt:lpstr>SimSun</vt:lpstr>
      <vt:lpstr>Wingdings</vt:lpstr>
      <vt:lpstr>Cambria</vt:lpstr>
      <vt:lpstr>Cambria</vt:lpstr>
      <vt:lpstr>Cambria</vt:lpstr>
      <vt:lpstr>Times New Roman</vt:lpstr>
      <vt:lpstr>Calibri</vt:lpstr>
      <vt:lpstr>Calibri</vt:lpstr>
      <vt:lpstr>Calibri</vt:lpstr>
      <vt:lpstr>Arial</vt:lpstr>
      <vt:lpstr>Arial</vt:lpstr>
      <vt:lpstr>Microsoft YaHei</vt:lpstr>
      <vt:lpstr>Arial Unicode MS</vt:lpstr>
      <vt:lpstr>Office Theme</vt:lpstr>
      <vt:lpstr>1_Office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Mind-Graph</cp:lastModifiedBy>
  <cp:revision>6</cp:revision>
  <dcterms:created xsi:type="dcterms:W3CDTF">2026-08-25T06:51:00Z</dcterms:created>
  <dcterms:modified xsi:type="dcterms:W3CDTF">2026-08-26T10:03:49Z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A92A3276316D48E69F925DF1B7F6C04F_12</vt:lpwstr>
  </property>
  <property fmtid="{D5CDD505-2E9C-101B-9397-08002B2CF9AE}" pid="3" name="KSOProductBuildVer">
    <vt:lpwstr>1033-12.1.0.28032</vt:lpwstr>
  </property>
</Properties>
</file>