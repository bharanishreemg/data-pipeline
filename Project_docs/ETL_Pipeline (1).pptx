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29"/>
          </a:solidFill>
        </p:spPr>
      </p:sp>
      <p:sp>
        <p:nvSpPr>
          <p:cNvPr id="3" name="Shape 1"/>
          <p:cNvSpPr/>
          <p:nvPr/>
        </p:nvSpPr>
        <p:spPr>
          <a:xfrm rot="1080000">
            <a:off x="8961120" y="-914400"/>
            <a:ext cx="2194560" cy="9144000"/>
          </a:xfrm>
          <a:prstGeom prst="rect">
            <a:avLst/>
          </a:prstGeom>
          <a:solidFill>
            <a:srgbClr val="3B0A87"/>
          </a:solidFill>
        </p:spPr>
      </p:sp>
      <p:sp>
        <p:nvSpPr>
          <p:cNvPr id="4" name="Shape 2"/>
          <p:cNvSpPr/>
          <p:nvPr/>
        </p:nvSpPr>
        <p:spPr>
          <a:xfrm rot="1080000">
            <a:off x="10607040" y="-914400"/>
            <a:ext cx="1005840" cy="91440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5" name="Shape 3"/>
          <p:cNvSpPr/>
          <p:nvPr/>
        </p:nvSpPr>
        <p:spPr>
          <a:xfrm>
            <a:off x="640080" y="1965960"/>
            <a:ext cx="960120" cy="960120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" y="22155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383280"/>
            <a:ext cx="8318500" cy="1741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Customer Sales Data Processing and Analytics</a:t>
            </a:r>
            <a:endParaRPr lang="en-US" altLang="en-US" sz="40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890168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5B21B6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01</a:t>
            </a:r>
            <a:endParaRPr lang="en-US" sz="6200" b="1" dirty="0">
              <a:solidFill>
                <a:srgbClr val="5B21B6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Generate the Synthetic Data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360676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6097" y="3133725"/>
            <a:ext cx="6099048" cy="1411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Since there's no real customer database, the project creates fake but realistic data using the Faker library.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Set to the Indian locale (en_IN) — so names, phone numbers, and addresses look authentically Indian.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Builds three datasets — Customers, Products, and Orders — each in its own script.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Uses fixed seeds (Faker.seed(42), random.seed(42)) so every run produces the exact same data — useful for consistent testing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Generates 20,000 customer records per run, saved into Raw_Data/*.csv.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Right after generating clean data, it deliberately injects errors — bad phone numbers, missing emails, invalid dates — to simulate real-world messy data for the pipeline to clean later.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8640" y="5475732"/>
            <a:ext cx="43891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4526280"/>
          </a:xfrm>
          <a:prstGeom prst="roundRect">
            <a:avLst>
              <a:gd name="adj" fmla="val 2022"/>
            </a:avLst>
          </a:prstGeom>
          <a:solidFill>
            <a:srgbClr val="5B21B6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20,000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records generated per run</a:t>
            </a:r>
            <a:endParaRPr lang="en-US" sz="1050" i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818120" y="4252214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data_generation.py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818120" y="4581398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data_injection.py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36" name="Text 32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1: Generate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890168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0EA5E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02</a:t>
            </a:r>
            <a:endParaRPr lang="en-US" sz="6200" b="1" dirty="0">
              <a:solidFill>
                <a:srgbClr val="0EA5E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0EA5E9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Extract and </a:t>
            </a: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Profile the Raw Data</a:t>
            </a:r>
            <a:endParaRPr lang="en-US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Measuring how messy the data is before fixing anything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5797" y="2969260"/>
            <a:ext cx="6099048" cy="1213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Extraction — raw CSV files (Customers, Products, Orders) read into memory as-is, no changes made</a:t>
            </a:r>
            <a:r>
              <a:rPr lang="en-IN" altLang="en-US" sz="135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No inspection here</a:t>
            </a:r>
            <a:r>
              <a:rPr lang="en-IN" altLang="en-US" sz="135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Inspection before cleaning — every issue counted &amp; logged from raw data first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Customers — invalid phone numbers, missing emails, bad registration dates, duplicate rows/Customer_IDs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Products — missing names, missing category/sub-category/supplier, invalid prices, duplicate rows/Product_IDs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Orders — invalid dates, invalid quantities, unrecognized payment methods/statuses, duplicate rows/Order_IDs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Orders (referential check) — invalid Customer_ID or Product_ID references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3931920"/>
          </a:xfrm>
          <a:prstGeom prst="roundRect">
            <a:avLst>
              <a:gd name="adj" fmla="val 2093"/>
            </a:avLst>
          </a:prstGeom>
          <a:solidFill>
            <a:srgbClr val="0EA5E9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Profiling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05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Inspecting exactly what's broken before any correction is applied</a:t>
            </a:r>
            <a:endParaRPr lang="en-US" altLang="en-US" sz="105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data-profiling.py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58368" y="5998464"/>
            <a:ext cx="347472" cy="347472"/>
          </a:xfrm>
          <a:prstGeom prst="ellipse">
            <a:avLst/>
          </a:prstGeom>
          <a:solidFill>
            <a:srgbClr val="F97316"/>
          </a:solidFill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1" y="6088807"/>
            <a:ext cx="166787" cy="166787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143000" y="5971032"/>
            <a:ext cx="10287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9A4A0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Reality check:  </a:t>
            </a:r>
            <a:r>
              <a:rPr lang="en-US" sz="1000" dirty="0">
                <a:solidFill>
                  <a:srgbClr val="6B4A0E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there is no separate 'profiling report' generated up front — profiling is inline logging inside the cleaning functions, not its own dedicated stage.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40" name="Text 35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2: Profile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890168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97316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03</a:t>
            </a:r>
            <a:endParaRPr lang="en-US" sz="6200" b="1" dirty="0">
              <a:solidFill>
                <a:srgbClr val="F97316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F9731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956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Clean</a:t>
            </a:r>
            <a:r>
              <a:rPr lang="en-IN" alt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,Validate</a:t>
            </a: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 and Standardize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One dedicated module per entity, same disciplined pattern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767" y="3389630"/>
            <a:ext cx="6099048" cy="1411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Data types corrected — every column converted to its proper type, so nothing downstream breaks.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Duplicates removed — exact duplicate rows dropped first, then duplicate IDs, keeping only the first occurrence.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Formatting standardized — text fields trimmed and title-cased for consistency.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Every field validated — checked against proper format, valid range, or fixed allowed values.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Records split into Clean vs Rejected — each failure tagged with its reason for full traceability.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Data Quality Report — summarizes cleaning results by counting total, clean, and rejected records per entity.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4526280"/>
          </a:xfrm>
          <a:prstGeom prst="roundRect">
            <a:avLst>
              <a:gd name="adj" fmla="val 2022"/>
            </a:avLst>
          </a:prstGeom>
          <a:solidFill>
            <a:srgbClr val="F97316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3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dedicated cleaning modules — one per entity</a:t>
            </a:r>
            <a:endParaRPr lang="en-US" sz="1050" i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customer_cleaning.py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818120" y="4581144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product_cleaning.py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818120" y="4910328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order_cleaning.py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6" name="Text 32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3: Clean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4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7811770" y="5227828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data_quality_report.py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890168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5B21B6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04</a:t>
            </a:r>
            <a:endParaRPr lang="en-US" sz="6200" b="1" dirty="0">
              <a:solidFill>
                <a:srgbClr val="5B21B6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Transform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Merging cleaned entities into one revenue-ready dataset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6412" y="3272790"/>
            <a:ext cx="6099048" cy="1411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Sales_Transaction.csv merges the three cleaned datasets — Customers, Products, Orders — into one unified table.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Join logic follows Orders → Customers on Customer_ID, then → Products on Product_ID, both as inner joins so only fully-matched, valid records survive.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A new calculated field, Total_Amount, is added as Quantity × Price.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A business rule ensures only orders with Order_Status "Completed" count toward revenue, while cancelled or pending orders get 0.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Derived time fields — Order_Year, Order_Month, YearMonth — are added from Order_Date for trend analysis.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The result turns three disconnected tables into one analysis-ready dataset with revenue built in, saved as Cleaned_Data/valid_data/Sales_Transaction.csv.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4526280"/>
          </a:xfrm>
          <a:prstGeom prst="roundRect">
            <a:avLst>
              <a:gd name="adj" fmla="val 2022"/>
            </a:avLst>
          </a:prstGeom>
          <a:solidFill>
            <a:srgbClr val="5B21B6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1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Sales_Transaction dataset produced</a:t>
            </a:r>
            <a:endParaRPr lang="en-US" sz="1050" i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sales_transaction.py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35" name="Text 31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4: Transform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890168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9" name="Shape 7"/>
          <p:cNvSpPr/>
          <p:nvPr/>
        </p:nvSpPr>
        <p:spPr>
          <a:xfrm>
            <a:off x="1029385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0EA5E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05</a:t>
            </a:r>
            <a:endParaRPr lang="en-US" sz="6200" b="1" dirty="0">
              <a:solidFill>
                <a:srgbClr val="0EA5E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0EA5E9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Design and Load the SQL Schema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Moving from files to a real, queryable MySQL database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3102" y="3133725"/>
            <a:ext cx="6099048" cy="14112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Defined the table structure (schema) for Customers, Products, Orders, and Sales_Transaction in MySQL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Auto-creates the database if it doesn't already exist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Each table cleared (truncated) before loading, so re-runs never create duplicates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Cleaned data inserted in batches of 5,000 records at a time for speed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Result: raw CSV files become a real, queryable database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4526280"/>
          </a:xfrm>
          <a:prstGeom prst="roundRect">
            <a:avLst>
              <a:gd name="adj" fmla="val 2022"/>
            </a:avLst>
          </a:prstGeom>
          <a:solidFill>
            <a:srgbClr val="0EA5E9"/>
          </a:solidFill>
        </p:spPr>
      </p:sp>
      <p:sp>
        <p:nvSpPr>
          <p:cNvPr id="26" name="Shape 23"/>
          <p:cNvSpPr/>
          <p:nvPr/>
        </p:nvSpPr>
        <p:spPr>
          <a:xfrm>
            <a:off x="9258300" y="258699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75341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3213735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  <a:sym typeface="+mn-ea"/>
              </a:rPr>
              <a:t>Schema</a:t>
            </a:r>
            <a:endParaRPr lang="en-US" sz="3000" b="1" dirty="0">
              <a:solidFill>
                <a:schemeClr val="bg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database_loader.py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6" name="Text 32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5: Schema &amp; Load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6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8" name="Shape 6"/>
          <p:cNvSpPr/>
          <p:nvPr/>
        </p:nvSpPr>
        <p:spPr>
          <a:xfrm>
            <a:off x="749833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5B21B6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5B21B6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06</a:t>
            </a:r>
            <a:endParaRPr lang="en-US" sz="6200" b="1" dirty="0">
              <a:solidFill>
                <a:srgbClr val="5B21B6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5B21B6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Analysis Layer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Turning clean, loaded data into business answers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8792" y="3536315"/>
            <a:ext cx="6099048" cy="1213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Connects to MySQL and runs queries against the loaded database, not the raw CSVs.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Reads all queries from SQL/business_analysis.sql and splits them for execution.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Runs each query one by one via run_business_analysis().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Answers 5 customer-related questions — total customers, top spenders, inactive customers, frequent buyers, top city.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Answers 6 product/sales questions — top products by quantity &amp; revenue, top category, total revenue, average order value, monthly trend.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Prints results to console — column headers, first 10 rows, and total row count per query.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3931920"/>
          </a:xfrm>
          <a:prstGeom prst="roundRect">
            <a:avLst>
              <a:gd name="adj" fmla="val 2093"/>
            </a:avLst>
          </a:prstGeom>
          <a:solidFill>
            <a:srgbClr val="5B21B6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SQL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queries power every business metric</a:t>
            </a:r>
            <a:endParaRPr lang="en-US" sz="1050" i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sql_analysis.py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39" name="Text 34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7: Analyze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8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8910701" y="31496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3" name="Shape 1"/>
          <p:cNvSpPr/>
          <p:nvPr/>
        </p:nvSpPr>
        <p:spPr>
          <a:xfrm>
            <a:off x="1940814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4" name="Shape 2"/>
          <p:cNvSpPr/>
          <p:nvPr/>
        </p:nvSpPr>
        <p:spPr>
          <a:xfrm>
            <a:off x="3332988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5" name="Shape 3"/>
          <p:cNvSpPr/>
          <p:nvPr/>
        </p:nvSpPr>
        <p:spPr>
          <a:xfrm>
            <a:off x="4725162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6" name="Shape 4"/>
          <p:cNvSpPr/>
          <p:nvPr/>
        </p:nvSpPr>
        <p:spPr>
          <a:xfrm>
            <a:off x="6117336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7" name="Shape 5"/>
          <p:cNvSpPr/>
          <p:nvPr/>
        </p:nvSpPr>
        <p:spPr>
          <a:xfrm>
            <a:off x="7509510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E4E1EE"/>
          </a:solidFill>
        </p:spPr>
      </p:sp>
      <p:sp>
        <p:nvSpPr>
          <p:cNvPr id="9" name="Shape 7"/>
          <p:cNvSpPr/>
          <p:nvPr/>
        </p:nvSpPr>
        <p:spPr>
          <a:xfrm>
            <a:off x="8893683" y="320040"/>
            <a:ext cx="1319022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</p:spPr>
      </p:sp>
      <p:sp>
        <p:nvSpPr>
          <p:cNvPr id="10" name="Text 8"/>
          <p:cNvSpPr/>
          <p:nvPr/>
        </p:nvSpPr>
        <p:spPr>
          <a:xfrm>
            <a:off x="502920" y="566928"/>
            <a:ext cx="1828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0EA5E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07</a:t>
            </a:r>
            <a:endParaRPr lang="en-US" sz="6200" b="1" dirty="0">
              <a:solidFill>
                <a:srgbClr val="0EA5E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652760" y="594360"/>
            <a:ext cx="658368" cy="658368"/>
          </a:xfrm>
          <a:prstGeom prst="ellipse">
            <a:avLst/>
          </a:prstGeom>
          <a:solidFill>
            <a:srgbClr val="0EA5E9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936" y="765536"/>
            <a:ext cx="316017" cy="3160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48840" y="65836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29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Present Insights</a:t>
            </a:r>
            <a:endParaRPr lang="en-US" sz="2700" b="1" dirty="0">
              <a:solidFill>
                <a:srgbClr val="1E1B29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48840" y="1133856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Packaging results into reviewable, shareable output</a:t>
            </a:r>
            <a:endParaRPr lang="en-US" sz="1250" i="1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48640" y="1664208"/>
            <a:ext cx="11064240" cy="0"/>
          </a:xfrm>
          <a:prstGeom prst="line">
            <a:avLst/>
          </a:prstGeom>
          <a:noFill/>
          <a:ln w="15875">
            <a:solidFill>
              <a:srgbClr val="E7E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4367" y="3251200"/>
            <a:ext cx="6099048" cy="1213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Takes everything the pipeline has done and turns it into two final, shareable outputs.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Creates a Data Quality Report — a CSV showing how many records were processed, cleaned, and rejected for each dataset.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Shares the business results from the analysis step — revenue, top customers, top products, monthly trends.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altLang="en-US" sz="1350" dirty="0">
                <a:latin typeface="Times New Roman" panose="02020603050405020304" charset="0"/>
                <a:cs typeface="Times New Roman" panose="02020603050405020304" charset="0"/>
              </a:rPr>
              <a:t>Keeps a full run log (etl_pipeline.log) so anyone can see exactly what happened, step by step, with timestamps.</a:t>
            </a:r>
            <a:endParaRPr lang="en-US" altLang="en-US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543800" y="1874520"/>
            <a:ext cx="4069080" cy="3931920"/>
          </a:xfrm>
          <a:prstGeom prst="roundRect">
            <a:avLst>
              <a:gd name="adj" fmla="val 2093"/>
            </a:avLst>
          </a:prstGeom>
          <a:solidFill>
            <a:srgbClr val="0EA5E9"/>
          </a:solidFill>
        </p:spPr>
      </p:sp>
      <p:sp>
        <p:nvSpPr>
          <p:cNvPr id="26" name="Shape 23"/>
          <p:cNvSpPr/>
          <p:nvPr/>
        </p:nvSpPr>
        <p:spPr>
          <a:xfrm>
            <a:off x="9258300" y="214884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4721" y="2315261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43800" y="2880360"/>
            <a:ext cx="4069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CSV</a:t>
            </a:r>
            <a:endParaRPr lang="en-US" sz="30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818120" y="3410712"/>
            <a:ext cx="3520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+ log output — the final deliverables</a:t>
            </a:r>
            <a:endParaRPr lang="en-US" sz="1050" i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18120" y="3867912"/>
            <a:ext cx="3520440" cy="0"/>
          </a:xfrm>
          <a:prstGeom prst="line">
            <a:avLst/>
          </a:prstGeom>
          <a:noFill/>
          <a:ln w="12700">
            <a:solidFill>
              <a:srgbClr val="D9CF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818120" y="3959352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E0F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KEY FILES</a:t>
            </a:r>
            <a:endParaRPr lang="en-US" sz="900" b="1" kern="0" spc="100" dirty="0">
              <a:solidFill>
                <a:srgbClr val="E7E0F7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818120" y="4251960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data_quality_report.py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818120" y="4581144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Data_Quality_Report.csv</a:t>
            </a:r>
            <a:endParaRPr lang="en-US" sz="105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EA5E9"/>
          </a:solidFill>
        </p:spPr>
      </p:sp>
      <p:sp>
        <p:nvSpPr>
          <p:cNvPr id="39" name="Text 34"/>
          <p:cNvSpPr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 Sales ETL Pipeline  |  Stage 8: Present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8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9</a:t>
            </a:r>
            <a:endParaRPr lang="en-US" sz="900" dirty="0">
              <a:solidFill>
                <a:srgbClr val="6B658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1" name="Text 29"/>
          <p:cNvSpPr/>
          <p:nvPr/>
        </p:nvSpPr>
        <p:spPr>
          <a:xfrm>
            <a:off x="7811770" y="4879594"/>
            <a:ext cx="3520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5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etl_pipeline.log</a:t>
            </a:r>
            <a:endParaRPr lang="en-US" altLang="en-US" sz="105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-101600" y="201168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ETL Pipeline Architecture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72720" y="868680"/>
            <a:ext cx="1965960" cy="41605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2720" y="96012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 SOURCES</a:t>
            </a:r>
            <a:endParaRPr lang="en-US" sz="1400" b="1" dirty="0">
              <a:solidFill>
                <a:srgbClr val="2C5F2D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53440" y="13716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Customers.csv</a:t>
            </a:r>
            <a:endParaRPr lang="en-US" sz="1400" b="1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Products.csv</a:t>
            </a:r>
            <a:endParaRPr lang="en-US" sz="1400" b="1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33120" y="2286000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Orders.csv</a:t>
            </a:r>
            <a:endParaRPr lang="en-US" sz="1400" b="1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9880" y="2880360"/>
            <a:ext cx="169164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Generated using Python (Faker, Random)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Contains 12+ months of transaction data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56968" y="2857500"/>
            <a:ext cx="219456" cy="18288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13" name="Shape 11"/>
          <p:cNvSpPr/>
          <p:nvPr/>
        </p:nvSpPr>
        <p:spPr>
          <a:xfrm>
            <a:off x="2431288" y="868680"/>
            <a:ext cx="7452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dash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31288" y="941832"/>
            <a:ext cx="7452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ETL SYSTEM (Python)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90495" y="1252855"/>
            <a:ext cx="1271905" cy="365760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0495" y="1245870"/>
            <a:ext cx="1271270" cy="391160"/>
          </a:xfrm>
          <a:prstGeom prst="roundRect">
            <a:avLst>
              <a:gd name="adj" fmla="val 14286"/>
            </a:avLst>
          </a:prstGeom>
          <a:solidFill>
            <a:srgbClr val="1E2761"/>
          </a:solidFill>
        </p:spPr>
      </p:sp>
      <p:sp>
        <p:nvSpPr>
          <p:cNvPr id="17" name="Shape 15"/>
          <p:cNvSpPr/>
          <p:nvPr/>
        </p:nvSpPr>
        <p:spPr>
          <a:xfrm>
            <a:off x="2690495" y="1432560"/>
            <a:ext cx="1271270" cy="20447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8" name="Text 16"/>
          <p:cNvSpPr txBox="1"/>
          <p:nvPr/>
        </p:nvSpPr>
        <p:spPr>
          <a:xfrm>
            <a:off x="2708910" y="1234440"/>
            <a:ext cx="116903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EXTRACT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2763520" y="1710055"/>
            <a:ext cx="1107440" cy="312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Read raw CSV files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Infer schema &amp; data types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83050" y="1252855"/>
            <a:ext cx="1292860" cy="365760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90670" y="1252855"/>
            <a:ext cx="1285240" cy="384175"/>
          </a:xfrm>
          <a:prstGeom prst="roundRect">
            <a:avLst>
              <a:gd name="adj" fmla="val 14286"/>
            </a:avLst>
          </a:prstGeom>
          <a:solidFill>
            <a:srgbClr val="1E2761"/>
          </a:solidFill>
        </p:spPr>
      </p:sp>
      <p:sp>
        <p:nvSpPr>
          <p:cNvPr id="22" name="Shape 20"/>
          <p:cNvSpPr/>
          <p:nvPr/>
        </p:nvSpPr>
        <p:spPr>
          <a:xfrm>
            <a:off x="4090670" y="1435735"/>
            <a:ext cx="1285240" cy="201295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3" name="Text 21"/>
          <p:cNvSpPr txBox="1"/>
          <p:nvPr/>
        </p:nvSpPr>
        <p:spPr>
          <a:xfrm>
            <a:off x="4128770" y="1252855"/>
            <a:ext cx="11880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VALIDATE &amp; CLEAN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156710" y="1710055"/>
            <a:ext cx="1125855" cy="312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 profiling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Business rule validation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Handle missing values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Standardize values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Detect duplicates &amp; invalid records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2590" y="1252855"/>
            <a:ext cx="1287780" cy="365760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2590" y="1252855"/>
            <a:ext cx="1287780" cy="384175"/>
          </a:xfrm>
          <a:prstGeom prst="roundRect">
            <a:avLst>
              <a:gd name="adj" fmla="val 14286"/>
            </a:avLst>
          </a:prstGeom>
          <a:solidFill>
            <a:srgbClr val="1E2761"/>
          </a:solidFill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42356" y="1371473"/>
            <a:ext cx="1127760" cy="20116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3" name="Text 31"/>
          <p:cNvSpPr txBox="1"/>
          <p:nvPr/>
        </p:nvSpPr>
        <p:spPr>
          <a:xfrm>
            <a:off x="5467350" y="1260475"/>
            <a:ext cx="124206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TRANSFORM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5501640" y="1737360"/>
            <a:ext cx="1207770" cy="312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Merge / Join datasets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Derive: Total_Amount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Derive: Order_Year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Derive: Order_Month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Derive: Year_Month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Create Sales_Transaction dataset</a:t>
            </a:r>
            <a:endParaRPr lang="en-US" sz="1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2285" y="1252855"/>
            <a:ext cx="1443355" cy="365760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2285" y="1252855"/>
            <a:ext cx="1443355" cy="384175"/>
          </a:xfrm>
          <a:prstGeom prst="roundRect">
            <a:avLst>
              <a:gd name="adj" fmla="val 14286"/>
            </a:avLst>
          </a:prstGeom>
          <a:solidFill>
            <a:srgbClr val="1E2761"/>
          </a:solidFill>
        </p:spPr>
      </p:sp>
      <p:sp>
        <p:nvSpPr>
          <p:cNvPr id="37" name="Shape 35"/>
          <p:cNvSpPr/>
          <p:nvPr/>
        </p:nvSpPr>
        <p:spPr>
          <a:xfrm>
            <a:off x="7172452" y="1435608"/>
            <a:ext cx="1127760" cy="201168"/>
          </a:xfrm>
          <a:prstGeom prst="rect">
            <a:avLst/>
          </a:prstGeom>
          <a:solidFill>
            <a:srgbClr val="1E2761"/>
          </a:solidFill>
        </p:spPr>
        <p:txBody>
          <a:bodyPr/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67525" y="1252855"/>
            <a:ext cx="13982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LOAD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940550" y="1710055"/>
            <a:ext cx="1324610" cy="312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Load cleaned data into MySQL database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Maintain PK &amp; FK relationships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401685" y="1252855"/>
            <a:ext cx="1379220" cy="365760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1685" y="1252855"/>
            <a:ext cx="1379220" cy="384175"/>
          </a:xfrm>
          <a:prstGeom prst="roundRect">
            <a:avLst>
              <a:gd name="adj" fmla="val 14286"/>
            </a:avLst>
          </a:prstGeom>
          <a:solidFill>
            <a:srgbClr val="1E2761"/>
          </a:solidFill>
        </p:spPr>
      </p:sp>
      <p:sp>
        <p:nvSpPr>
          <p:cNvPr id="42" name="Shape 40"/>
          <p:cNvSpPr/>
          <p:nvPr/>
        </p:nvSpPr>
        <p:spPr>
          <a:xfrm>
            <a:off x="8397875" y="1435735"/>
            <a:ext cx="1379220" cy="201295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3" name="Text 41"/>
          <p:cNvSpPr txBox="1"/>
          <p:nvPr/>
        </p:nvSpPr>
        <p:spPr>
          <a:xfrm>
            <a:off x="8541258" y="1259713"/>
            <a:ext cx="103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ANALYZE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8507730" y="1710055"/>
            <a:ext cx="1200150" cy="3127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SQL &amp; Pandas Analysis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Business Insights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27000" indent="-127000" algn="l">
              <a:lnSpc>
                <a:spcPct val="102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Reporting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922256" y="2857500"/>
            <a:ext cx="219456" cy="18288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46" name="Shape 44"/>
          <p:cNvSpPr/>
          <p:nvPr/>
        </p:nvSpPr>
        <p:spPr>
          <a:xfrm>
            <a:off x="10176510" y="868680"/>
            <a:ext cx="1858010" cy="4160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C1591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176256" y="858520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59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OUTPUTS</a:t>
            </a:r>
            <a:endParaRPr lang="en-US" sz="1400" b="1" dirty="0">
              <a:solidFill>
                <a:srgbClr val="C159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313416" y="1645920"/>
            <a:ext cx="164592" cy="164592"/>
          </a:xfrm>
          <a:prstGeom prst="ellipse">
            <a:avLst/>
          </a:prstGeom>
          <a:solidFill>
            <a:srgbClr val="FBE9DD"/>
          </a:solidFill>
          <a:ln w="12700">
            <a:solidFill>
              <a:srgbClr val="C1591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560050" y="1310640"/>
            <a:ext cx="1478915" cy="713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MySQL Database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(Customers, Products, Orders</a:t>
            </a:r>
            <a:r>
              <a:rPr lang="en-IN" alt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,</a:t>
            </a:r>
            <a:endParaRPr lang="en-IN" altLang="en-US" sz="1400" dirty="0">
              <a:solidFill>
                <a:srgbClr val="6B6B6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IN" alt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salse_transaction.)</a:t>
            </a:r>
            <a:endParaRPr lang="en-IN" altLang="en-US" sz="1400" dirty="0">
              <a:solidFill>
                <a:srgbClr val="6B6B6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313416" y="2359152"/>
            <a:ext cx="164592" cy="164592"/>
          </a:xfrm>
          <a:prstGeom prst="ellipse">
            <a:avLst/>
          </a:prstGeom>
          <a:solidFill>
            <a:srgbClr val="FBE9DD"/>
          </a:solidFill>
          <a:ln w="12700">
            <a:solidFill>
              <a:srgbClr val="C1591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560304" y="2084832"/>
            <a:ext cx="110642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Sales_Transaction Dataset</a:t>
            </a:r>
            <a:endParaRPr lang="en-US" sz="1400" b="1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IN" alt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(CSV)</a:t>
            </a:r>
            <a:endParaRPr lang="en-IN" alt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313416" y="3072384"/>
            <a:ext cx="164592" cy="164592"/>
          </a:xfrm>
          <a:prstGeom prst="ellipse">
            <a:avLst/>
          </a:prstGeom>
          <a:solidFill>
            <a:srgbClr val="FBE9DD"/>
          </a:solidFill>
          <a:ln w="12700">
            <a:solidFill>
              <a:srgbClr val="C1591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560304" y="2798064"/>
            <a:ext cx="110642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Data Quality Report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(CSV)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313416" y="3785616"/>
            <a:ext cx="164592" cy="164592"/>
          </a:xfrm>
          <a:prstGeom prst="ellipse">
            <a:avLst/>
          </a:prstGeom>
          <a:solidFill>
            <a:srgbClr val="FBE9DD"/>
          </a:solidFill>
          <a:ln w="12700">
            <a:solidFill>
              <a:srgbClr val="C1591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560304" y="3511296"/>
            <a:ext cx="110642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Rejected Datasets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(CSV Files)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313416" y="4498848"/>
            <a:ext cx="164592" cy="164592"/>
          </a:xfrm>
          <a:prstGeom prst="ellipse">
            <a:avLst/>
          </a:prstGeom>
          <a:solidFill>
            <a:srgbClr val="FBE9DD"/>
          </a:solidFill>
          <a:ln w="12700">
            <a:solidFill>
              <a:srgbClr val="C1591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560304" y="4224528"/>
            <a:ext cx="110642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Business Analysis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(SQL Results)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72720" y="5376672"/>
            <a:ext cx="116128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2700">
            <a:solidFill>
              <a:srgbClr val="B8C2D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72720" y="5138928"/>
            <a:ext cx="1161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SUPPORTING COMPONENTS</a:t>
            </a:r>
            <a:endParaRPr lang="en-US" sz="1400" b="1" dirty="0">
              <a:solidFill>
                <a:srgbClr val="1E276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74195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18440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Python 3.</a:t>
            </a:r>
            <a:r>
              <a:rPr lang="en-IN" alt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12.08</a:t>
            </a:r>
            <a:endParaRPr lang="en-IN" alt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533178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877423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pandas, numpy</a:t>
            </a:r>
            <a:endParaRPr 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192161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536406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mysql-connector</a:t>
            </a:r>
            <a:endParaRPr 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851144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195389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logging</a:t>
            </a:r>
            <a:endParaRPr 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510127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4371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os</a:t>
            </a:r>
            <a:endParaRPr 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9169110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513354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faker, random</a:t>
            </a:r>
            <a:endParaRPr 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0828093" y="5468112"/>
            <a:ext cx="256032" cy="25603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172337" y="5779008"/>
            <a:ext cx="1567543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IN" altLang="en-US" sz="1400" dirty="0">
                <a:solidFill>
                  <a:srgbClr val="2B2B2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MySQL connector </a:t>
            </a:r>
            <a:endParaRPr lang="en-IN" altLang="en-US" sz="1400" dirty="0">
              <a:solidFill>
                <a:srgbClr val="2B2B2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" y="1320800"/>
            <a:ext cx="458470" cy="458470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" y="1784350"/>
            <a:ext cx="458470" cy="458470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" y="2275840"/>
            <a:ext cx="458470" cy="458470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390" y="3511550"/>
            <a:ext cx="991235" cy="878840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465" y="3686175"/>
            <a:ext cx="617220" cy="5384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890" y="3785870"/>
            <a:ext cx="526415" cy="52641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985" y="3686175"/>
            <a:ext cx="713740" cy="713740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8080" y="3710940"/>
            <a:ext cx="513715" cy="513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29"/>
          </a:solidFill>
        </p:spPr>
      </p:sp>
      <p:sp>
        <p:nvSpPr>
          <p:cNvPr id="3" name="Shape 1"/>
          <p:cNvSpPr/>
          <p:nvPr/>
        </p:nvSpPr>
        <p:spPr>
          <a:xfrm rot="1080000">
            <a:off x="8961120" y="-914400"/>
            <a:ext cx="2194560" cy="9144000"/>
          </a:xfrm>
          <a:prstGeom prst="rect">
            <a:avLst/>
          </a:prstGeom>
          <a:solidFill>
            <a:srgbClr val="3B0A87"/>
          </a:solidFill>
        </p:spPr>
      </p:sp>
      <p:sp>
        <p:nvSpPr>
          <p:cNvPr id="4" name="Shape 2"/>
          <p:cNvSpPr/>
          <p:nvPr/>
        </p:nvSpPr>
        <p:spPr>
          <a:xfrm rot="1080000">
            <a:off x="10607040" y="-914400"/>
            <a:ext cx="1005840" cy="91440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8" name="Text 5"/>
          <p:cNvSpPr/>
          <p:nvPr/>
        </p:nvSpPr>
        <p:spPr>
          <a:xfrm>
            <a:off x="548640" y="3383280"/>
            <a:ext cx="8318500" cy="1741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alt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altLang="en-US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6415</Words>
  <Application>WPS Presentation</Application>
  <PresentationFormat>On-screen Show (16:9)</PresentationFormat>
  <Paragraphs>298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Cambria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Mind-Graph</cp:lastModifiedBy>
  <cp:revision>9</cp:revision>
  <dcterms:created xsi:type="dcterms:W3CDTF">2026-08-30T07:07:00Z</dcterms:created>
  <dcterms:modified xsi:type="dcterms:W3CDTF">2026-09-02T04:45:33Z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8FF5A631424D4CF2995628006AFD4A98_12</vt:lpwstr>
  </property>
</Properties>
</file>